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268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130576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097740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0011149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676892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47301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24087" name="Google Shape;85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096426" name="Google Shape;86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692082681" name="Google Shape;87;p1:notes"/>
          <p:cNvSpPr txBox="1"/>
          <p:nvPr>
            <p:ph type="sldNum" idx="12"/>
          </p:nvPr>
        </p:nvSpPr>
        <p:spPr bwMode="auto">
          <a:xfrm>
            <a:off x="3884612" y="8685212"/>
            <a:ext cx="2971800" cy="45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2A5E5BEE-F961-86B4-7147-00F4866A2C35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165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63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254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038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09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090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679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692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4906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212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222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8722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721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86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238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16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210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777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498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9807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732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0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067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7876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6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9792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493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38751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86726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162673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4287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71938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9510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00613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1828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50976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07081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media1.svg"/><Relationship Id="rId5" Type="http://schemas.openxmlformats.org/officeDocument/2006/relationships/image" Target="../media/image13.png"/><Relationship Id="rId6" Type="http://schemas.openxmlformats.org/officeDocument/2006/relationships/image" Target="../media/media2.svg"/><Relationship Id="rId7" Type="http://schemas.openxmlformats.org/officeDocument/2006/relationships/image" Target="../media/image14.png"/><Relationship Id="rId8" Type="http://schemas.openxmlformats.org/officeDocument/2006/relationships/image" Target="../media/media3.svg"/><Relationship Id="rId9" Type="http://schemas.openxmlformats.org/officeDocument/2006/relationships/image" Target="../media/image15.png"/><Relationship Id="rId10" Type="http://schemas.openxmlformats.org/officeDocument/2006/relationships/image" Target="../media/media4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hyperlink" Target="mailto:gestor.renatorosa@gmail.com" TargetMode="External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42029" name="Google Shape;89;p1"/>
          <p:cNvSpPr/>
          <p:nvPr/>
        </p:nvSpPr>
        <p:spPr bwMode="auto">
          <a:xfrm>
            <a:off x="0" y="1200150"/>
            <a:ext cx="9144000" cy="4021875"/>
          </a:xfrm>
          <a:prstGeom prst="rect">
            <a:avLst/>
          </a:prstGeom>
          <a:solidFill>
            <a:srgbClr val="3E4095"/>
          </a:solidFill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2998945" name="Google Shape;90;p1"/>
          <p:cNvSpPr txBox="1"/>
          <p:nvPr>
            <p:ph type="ctrTitle"/>
          </p:nvPr>
        </p:nvSpPr>
        <p:spPr bwMode="auto">
          <a:xfrm flipH="0" flipV="0">
            <a:off x="1199642" y="1428748"/>
            <a:ext cx="6858000" cy="1642577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b" anchorCtr="0" forceAA="0" upright="0" compatLnSpc="0">
            <a:normAutofit fontScale="90000" lnSpcReduction="2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/>
            </a:pPr>
            <a:r>
              <a:rPr lang="pt-BR" sz="3200" b="1" i="0" u="none" strike="noStrike" cap="none" spc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O NOVO CONTRATO PSICOLÓGICO DE TRABALHO DA GERAÇÃO Z: Uma análise lexicométrica das microaposentadorias e do quiet quitting</a:t>
            </a:r>
            <a:endParaRPr/>
          </a:p>
        </p:txBody>
      </p:sp>
      <p:sp>
        <p:nvSpPr>
          <p:cNvPr id="1261513708" name="Google Shape;91;p1"/>
          <p:cNvSpPr txBox="1"/>
          <p:nvPr>
            <p:ph type="subTitle" idx="1"/>
          </p:nvPr>
        </p:nvSpPr>
        <p:spPr bwMode="auto">
          <a:xfrm flipH="0" flipV="0">
            <a:off x="4394157" y="2765774"/>
            <a:ext cx="4451491" cy="87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endParaRPr/>
          </a:p>
          <a:p>
            <a:pPr marL="0" lvl="0" indent="0" algn="r" rtl="0"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r>
              <a:rPr lang="pt-BR" sz="2200" b="1">
                <a:solidFill>
                  <a:schemeClr val="lt1"/>
                </a:solidFill>
              </a:rPr>
              <a:t>Renato de Oliveira Rosa - Fucape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/>
            </a:pPr>
            <a:endParaRPr sz="2200" b="1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pPr>
            <a:endParaRPr sz="2200" b="1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pPr>
            <a:endParaRPr sz="2200"/>
          </a:p>
        </p:txBody>
      </p:sp>
      <p:sp>
        <p:nvSpPr>
          <p:cNvPr id="1604295572" name="Google Shape;92;p1"/>
          <p:cNvSpPr/>
          <p:nvPr/>
        </p:nvSpPr>
        <p:spPr bwMode="auto">
          <a:xfrm>
            <a:off x="0" y="4014787"/>
            <a:ext cx="9144000" cy="12001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4251743" name="Google Shape;93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9140162" cy="1200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8304379" name="Google Shape;94;p1" title="Eigedin 2026 (8).png"/>
          <p:cNvPicPr/>
          <p:nvPr/>
        </p:nvPicPr>
        <p:blipFill rotWithShape="1">
          <a:blip r:embed="rId4">
            <a:alphaModFix/>
          </a:blip>
          <a:srcRect l="0" t="86968" r="0" b="2019"/>
          <a:stretch/>
        </p:blipFill>
        <p:spPr bwMode="auto">
          <a:xfrm>
            <a:off x="278793" y="4119543"/>
            <a:ext cx="8616656" cy="94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943042" name="Shape 0"/>
          <p:cNvSpPr/>
          <p:nvPr/>
        </p:nvSpPr>
        <p:spPr bwMode="auto">
          <a:xfrm>
            <a:off x="571500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169308454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68131" y="356592"/>
            <a:ext cx="3322737" cy="4430316"/>
          </a:xfrm>
          <a:prstGeom prst="rect">
            <a:avLst/>
          </a:prstGeom>
        </p:spPr>
      </p:pic>
      <p:sp>
        <p:nvSpPr>
          <p:cNvPr id="1952982921" name="Text 1"/>
          <p:cNvSpPr/>
          <p:nvPr/>
        </p:nvSpPr>
        <p:spPr bwMode="auto">
          <a:xfrm>
            <a:off x="425425" y="451098"/>
            <a:ext cx="4864150" cy="6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9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Introdução: O Contexto do Problema</a:t>
            </a:r>
            <a:endParaRPr lang="en-US" sz="1950"/>
          </a:p>
        </p:txBody>
      </p:sp>
      <p:sp>
        <p:nvSpPr>
          <p:cNvPr id="811228589" name="Text 2"/>
          <p:cNvSpPr/>
          <p:nvPr/>
        </p:nvSpPr>
        <p:spPr bwMode="auto">
          <a:xfrm>
            <a:off x="425425" y="1206252"/>
            <a:ext cx="486415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800">
                <a:solidFill>
                  <a:srgbClr val="D9E1FF"/>
                </a:solidFill>
                <a:latin typeface="Arimo"/>
                <a:ea typeface="Arimo"/>
                <a:cs typeface="Arimo"/>
              </a:rPr>
              <a:t>A Geração Z ingressa no mercado marcado por hiperconectividade, instabilidade macroeconômica e os efeitos duradouros da pandemia. O contrato psicológico tradicional — lealdade e dedicação em troca de segurança e progressão hierárquica — está em colapso.</a:t>
            </a:r>
            <a:endParaRPr lang="en-US" sz="800"/>
          </a:p>
        </p:txBody>
      </p:sp>
      <p:sp>
        <p:nvSpPr>
          <p:cNvPr id="1655178508" name="Shape 3"/>
          <p:cNvSpPr/>
          <p:nvPr/>
        </p:nvSpPr>
        <p:spPr bwMode="auto">
          <a:xfrm>
            <a:off x="425425" y="1765995"/>
            <a:ext cx="4864150" cy="949226"/>
          </a:xfrm>
          <a:prstGeom prst="roundRect">
            <a:avLst>
              <a:gd name="adj" fmla="val 1681"/>
            </a:avLst>
          </a:prstGeom>
          <a:solidFill>
            <a:srgbClr val="0F004D"/>
          </a:solidFill>
          <a:ln/>
        </p:spPr>
      </p:sp>
      <p:pic>
        <p:nvPicPr>
          <p:cNvPr id="188690323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1763" y="1883792"/>
            <a:ext cx="156418" cy="125090"/>
          </a:xfrm>
          <a:prstGeom prst="rect">
            <a:avLst/>
          </a:prstGeom>
        </p:spPr>
      </p:pic>
      <p:sp>
        <p:nvSpPr>
          <p:cNvPr id="720953510" name="Text 4"/>
          <p:cNvSpPr/>
          <p:nvPr/>
        </p:nvSpPr>
        <p:spPr bwMode="auto">
          <a:xfrm>
            <a:off x="794519" y="1878955"/>
            <a:ext cx="192501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Transição Geracional</a:t>
            </a:r>
            <a:endParaRPr lang="en-US" sz="950"/>
          </a:p>
        </p:txBody>
      </p:sp>
      <p:sp>
        <p:nvSpPr>
          <p:cNvPr id="1983899474" name="Text 5"/>
          <p:cNvSpPr/>
          <p:nvPr/>
        </p:nvSpPr>
        <p:spPr bwMode="auto">
          <a:xfrm>
            <a:off x="794519" y="2121768"/>
            <a:ext cx="4388718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mo"/>
                <a:ea typeface="Arimo"/>
                <a:cs typeface="Arimo"/>
              </a:rPr>
              <a:t>A Geração Z ingressa no mercado marcado por hiperconectividade, instabilidade macroeconômica e os efeitos duradouros da pandemia. O contrato psicológico tradicional — lealdade e dedicação em troca de segurança e progressão hierárquica — está em colapso.</a:t>
            </a:r>
            <a:endParaRPr lang="en-US" sz="800"/>
          </a:p>
        </p:txBody>
      </p:sp>
      <p:sp>
        <p:nvSpPr>
          <p:cNvPr id="553904247" name="Text 6"/>
          <p:cNvSpPr/>
          <p:nvPr/>
        </p:nvSpPr>
        <p:spPr bwMode="auto">
          <a:xfrm>
            <a:off x="425425" y="2844850"/>
            <a:ext cx="2140595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Fenômenos Emergentes</a:t>
            </a:r>
            <a:endParaRPr lang="en-US" sz="950"/>
          </a:p>
        </p:txBody>
      </p:sp>
      <p:sp>
        <p:nvSpPr>
          <p:cNvPr id="1244075110" name="Shape 7"/>
          <p:cNvSpPr/>
          <p:nvPr/>
        </p:nvSpPr>
        <p:spPr bwMode="auto">
          <a:xfrm>
            <a:off x="425425" y="3130897"/>
            <a:ext cx="2388840" cy="912019"/>
          </a:xfrm>
          <a:prstGeom prst="roundRect">
            <a:avLst>
              <a:gd name="adj" fmla="val 7520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903117204" name="Shape 8"/>
          <p:cNvSpPr/>
          <p:nvPr/>
        </p:nvSpPr>
        <p:spPr bwMode="auto">
          <a:xfrm>
            <a:off x="411138" y="3130897"/>
            <a:ext cx="57150" cy="912019"/>
          </a:xfrm>
          <a:prstGeom prst="roundRect">
            <a:avLst>
              <a:gd name="adj" fmla="val 27918"/>
            </a:avLst>
          </a:prstGeom>
          <a:solidFill>
            <a:srgbClr val="8061FF"/>
          </a:solidFill>
          <a:ln/>
        </p:spPr>
      </p:sp>
      <p:sp>
        <p:nvSpPr>
          <p:cNvPr id="1258968565" name="Text 9"/>
          <p:cNvSpPr/>
          <p:nvPr/>
        </p:nvSpPr>
        <p:spPr bwMode="auto">
          <a:xfrm>
            <a:off x="588913" y="3251522"/>
            <a:ext cx="125134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Quiet Quitting</a:t>
            </a:r>
            <a:endParaRPr lang="en-US" sz="950"/>
          </a:p>
        </p:txBody>
      </p:sp>
      <p:sp>
        <p:nvSpPr>
          <p:cNvPr id="934285124" name="Text 10"/>
          <p:cNvSpPr/>
          <p:nvPr/>
        </p:nvSpPr>
        <p:spPr bwMode="auto">
          <a:xfrm>
            <a:off x="588913" y="3459733"/>
            <a:ext cx="2104727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800">
                <a:solidFill>
                  <a:srgbClr val="D9E1FF"/>
                </a:solidFill>
                <a:latin typeface="Arimo"/>
                <a:ea typeface="Arimo"/>
                <a:cs typeface="Arimo"/>
              </a:rPr>
              <a:t>Limitação consciente do engajamento ao estritamente contratual, sem demissão formal.</a:t>
            </a:r>
            <a:endParaRPr lang="en-US" sz="800"/>
          </a:p>
        </p:txBody>
      </p:sp>
      <p:sp>
        <p:nvSpPr>
          <p:cNvPr id="1773027766" name="Shape 11"/>
          <p:cNvSpPr/>
          <p:nvPr/>
        </p:nvSpPr>
        <p:spPr bwMode="auto">
          <a:xfrm>
            <a:off x="2900660" y="3130897"/>
            <a:ext cx="2388915" cy="912019"/>
          </a:xfrm>
          <a:prstGeom prst="roundRect">
            <a:avLst>
              <a:gd name="adj" fmla="val 7520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938205760" name="Shape 12"/>
          <p:cNvSpPr/>
          <p:nvPr/>
        </p:nvSpPr>
        <p:spPr bwMode="auto">
          <a:xfrm>
            <a:off x="2886373" y="3130897"/>
            <a:ext cx="57150" cy="912019"/>
          </a:xfrm>
          <a:prstGeom prst="roundRect">
            <a:avLst>
              <a:gd name="adj" fmla="val 27918"/>
            </a:avLst>
          </a:prstGeom>
          <a:solidFill>
            <a:srgbClr val="8061FF"/>
          </a:solidFill>
          <a:ln/>
        </p:spPr>
      </p:sp>
      <p:sp>
        <p:nvSpPr>
          <p:cNvPr id="1775189219" name="Text 13"/>
          <p:cNvSpPr/>
          <p:nvPr/>
        </p:nvSpPr>
        <p:spPr bwMode="auto">
          <a:xfrm>
            <a:off x="3064148" y="3251522"/>
            <a:ext cx="1476003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9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Microaposentadorias</a:t>
            </a:r>
            <a:endParaRPr lang="en-US" sz="950"/>
          </a:p>
        </p:txBody>
      </p:sp>
      <p:sp>
        <p:nvSpPr>
          <p:cNvPr id="498416418" name="Text 14"/>
          <p:cNvSpPr/>
          <p:nvPr/>
        </p:nvSpPr>
        <p:spPr bwMode="auto">
          <a:xfrm>
            <a:off x="3064148" y="3459733"/>
            <a:ext cx="2104802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800">
                <a:solidFill>
                  <a:srgbClr val="D9E1FF"/>
                </a:solidFill>
                <a:latin typeface="Arimo"/>
                <a:ea typeface="Arimo"/>
                <a:cs typeface="Arimo"/>
              </a:rPr>
              <a:t>Pausas planejadas na carreira para preservação do bem-estar e recuperação do tempo livre.</a:t>
            </a:r>
            <a:endParaRPr lang="en-US" sz="800"/>
          </a:p>
        </p:txBody>
      </p:sp>
      <p:sp>
        <p:nvSpPr>
          <p:cNvPr id="1477401521" name="Shape 15"/>
          <p:cNvSpPr/>
          <p:nvPr/>
        </p:nvSpPr>
        <p:spPr bwMode="auto">
          <a:xfrm>
            <a:off x="425425" y="4140101"/>
            <a:ext cx="4864150" cy="552227"/>
          </a:xfrm>
          <a:prstGeom prst="roundRect">
            <a:avLst>
              <a:gd name="adj" fmla="val 2889"/>
            </a:avLst>
          </a:prstGeom>
          <a:solidFill>
            <a:srgbClr val="262626"/>
          </a:solidFill>
          <a:ln/>
        </p:spPr>
      </p:sp>
      <p:pic>
        <p:nvPicPr>
          <p:cNvPr id="180607046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1763" y="4289450"/>
            <a:ext cx="132904" cy="106338"/>
          </a:xfrm>
          <a:prstGeom prst="rect">
            <a:avLst/>
          </a:prstGeom>
        </p:spPr>
      </p:pic>
      <p:sp>
        <p:nvSpPr>
          <p:cNvPr id="1671614950" name="Text 16"/>
          <p:cNvSpPr/>
          <p:nvPr/>
        </p:nvSpPr>
        <p:spPr bwMode="auto">
          <a:xfrm>
            <a:off x="771004" y="4253061"/>
            <a:ext cx="441223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mo"/>
                <a:ea typeface="Arimo"/>
                <a:cs typeface="Arimo"/>
              </a:rPr>
              <a:t>Como os trabalhadores da Geração Z estão renegociando o contrato psicológico por meio de táticas de gestão do tempo e do engajamento, expressas em relatos digitais espontâneos?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049389" name="Text 0"/>
          <p:cNvSpPr/>
          <p:nvPr/>
        </p:nvSpPr>
        <p:spPr bwMode="auto">
          <a:xfrm>
            <a:off x="523577" y="597917"/>
            <a:ext cx="419330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Objetivos da Pesquisa</a:t>
            </a:r>
            <a:endParaRPr lang="en-US" sz="2400"/>
          </a:p>
        </p:txBody>
      </p:sp>
      <p:sp>
        <p:nvSpPr>
          <p:cNvPr id="1333188414" name="Text 1"/>
          <p:cNvSpPr/>
          <p:nvPr/>
        </p:nvSpPr>
        <p:spPr bwMode="auto">
          <a:xfrm>
            <a:off x="523577" y="1244650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Este estudo busca compreender, por meio da análise lexicométrica, como jovens profissionais da Geração Z articulam, em plataformas digitais, suas estratégias de renegociação do trabalho.</a:t>
            </a:r>
            <a:endParaRPr lang="en-US" sz="1000"/>
          </a:p>
        </p:txBody>
      </p:sp>
      <p:sp>
        <p:nvSpPr>
          <p:cNvPr id="828844362" name="Text 2"/>
          <p:cNvSpPr/>
          <p:nvPr/>
        </p:nvSpPr>
        <p:spPr bwMode="auto">
          <a:xfrm>
            <a:off x="523577" y="1941612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 Geral</a:t>
            </a:r>
            <a:endParaRPr lang="en-US" sz="1200"/>
          </a:p>
        </p:txBody>
      </p:sp>
      <p:sp>
        <p:nvSpPr>
          <p:cNvPr id="128567920" name="Text 3"/>
          <p:cNvSpPr/>
          <p:nvPr/>
        </p:nvSpPr>
        <p:spPr bwMode="auto">
          <a:xfrm>
            <a:off x="523577" y="2265015"/>
            <a:ext cx="3888730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Analisar o vocabulário mobilizado por jovens da Geração Z em plataformas digitais, compreendendo como o quiet quitting e as microaposentadorias atuam como mecanismos de renegociação laboral.</a:t>
            </a:r>
            <a:endParaRPr lang="en-US" sz="1000"/>
          </a:p>
        </p:txBody>
      </p:sp>
      <p:sp>
        <p:nvSpPr>
          <p:cNvPr id="528931486" name="Text 4"/>
          <p:cNvSpPr/>
          <p:nvPr/>
        </p:nvSpPr>
        <p:spPr bwMode="auto">
          <a:xfrm>
            <a:off x="4736455" y="1941612"/>
            <a:ext cx="22675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Objetivos Específicos</a:t>
            </a:r>
            <a:endParaRPr lang="en-US" sz="1200"/>
          </a:p>
        </p:txBody>
      </p:sp>
      <p:sp>
        <p:nvSpPr>
          <p:cNvPr id="1589498926" name="Shape 5"/>
          <p:cNvSpPr/>
          <p:nvPr/>
        </p:nvSpPr>
        <p:spPr bwMode="auto">
          <a:xfrm>
            <a:off x="4736455" y="2281386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339614878" name="Text 6"/>
          <p:cNvSpPr/>
          <p:nvPr/>
        </p:nvSpPr>
        <p:spPr bwMode="auto">
          <a:xfrm>
            <a:off x="4791335" y="2313161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1</a:t>
            </a:r>
            <a:endParaRPr lang="en-US" sz="1450"/>
          </a:p>
        </p:txBody>
      </p:sp>
      <p:sp>
        <p:nvSpPr>
          <p:cNvPr id="1549098242" name="Text 7"/>
          <p:cNvSpPr/>
          <p:nvPr/>
        </p:nvSpPr>
        <p:spPr bwMode="auto">
          <a:xfrm>
            <a:off x="5161880" y="2323877"/>
            <a:ext cx="346330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Identificar palavras e campos semânticos centrais no discurso sobre trabalho e tempo livre</a:t>
            </a:r>
            <a:endParaRPr lang="en-US" sz="1000"/>
          </a:p>
        </p:txBody>
      </p:sp>
      <p:sp>
        <p:nvSpPr>
          <p:cNvPr id="984948767" name="Shape 8"/>
          <p:cNvSpPr/>
          <p:nvPr/>
        </p:nvSpPr>
        <p:spPr bwMode="auto">
          <a:xfrm>
            <a:off x="4736455" y="3004468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587372768" name="Text 9"/>
          <p:cNvSpPr/>
          <p:nvPr/>
        </p:nvSpPr>
        <p:spPr bwMode="auto">
          <a:xfrm>
            <a:off x="4791335" y="3036243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2</a:t>
            </a:r>
            <a:endParaRPr lang="en-US" sz="1450"/>
          </a:p>
        </p:txBody>
      </p:sp>
      <p:sp>
        <p:nvSpPr>
          <p:cNvPr id="1282544348" name="Text 10"/>
          <p:cNvSpPr/>
          <p:nvPr/>
        </p:nvSpPr>
        <p:spPr bwMode="auto">
          <a:xfrm>
            <a:off x="5161880" y="3046958"/>
            <a:ext cx="3463305" cy="62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Mapear, via Análise Fatorial de Correspondência (AFC), proximidades e distâncias lexicais entre universos discursivos</a:t>
            </a:r>
            <a:endParaRPr lang="en-US" sz="1000"/>
          </a:p>
        </p:txBody>
      </p:sp>
      <p:sp>
        <p:nvSpPr>
          <p:cNvPr id="128189962" name="Shape 11"/>
          <p:cNvSpPr/>
          <p:nvPr/>
        </p:nvSpPr>
        <p:spPr bwMode="auto">
          <a:xfrm>
            <a:off x="4736455" y="3936950"/>
            <a:ext cx="294531" cy="294531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/>
        </p:spPr>
      </p:sp>
      <p:sp>
        <p:nvSpPr>
          <p:cNvPr id="1433365643" name="Text 12"/>
          <p:cNvSpPr/>
          <p:nvPr/>
        </p:nvSpPr>
        <p:spPr bwMode="auto">
          <a:xfrm>
            <a:off x="4791335" y="3968725"/>
            <a:ext cx="1847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45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3</a:t>
            </a:r>
            <a:endParaRPr lang="en-US" sz="1450"/>
          </a:p>
        </p:txBody>
      </p:sp>
      <p:sp>
        <p:nvSpPr>
          <p:cNvPr id="1201816398" name="Text 13"/>
          <p:cNvSpPr/>
          <p:nvPr/>
        </p:nvSpPr>
        <p:spPr bwMode="auto">
          <a:xfrm>
            <a:off x="5161880" y="3979441"/>
            <a:ext cx="346330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Discutir as implicações dos achados para a gestão de pessoas contemporânea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82873" name="Text 0"/>
          <p:cNvSpPr/>
          <p:nvPr/>
        </p:nvSpPr>
        <p:spPr bwMode="auto">
          <a:xfrm>
            <a:off x="523577" y="586085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Metodologia</a:t>
            </a:r>
            <a:endParaRPr lang="en-US" sz="2400"/>
          </a:p>
        </p:txBody>
      </p:sp>
      <p:pic>
        <p:nvPicPr>
          <p:cNvPr id="150664521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3577" y="1232818"/>
            <a:ext cx="1139503" cy="1139503"/>
          </a:xfrm>
          <a:prstGeom prst="rect">
            <a:avLst/>
          </a:prstGeom>
        </p:spPr>
      </p:pic>
      <p:sp>
        <p:nvSpPr>
          <p:cNvPr id="1538589209" name="Text 1"/>
          <p:cNvSpPr/>
          <p:nvPr/>
        </p:nvSpPr>
        <p:spPr bwMode="auto">
          <a:xfrm>
            <a:off x="523577" y="25359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Abordagem</a:t>
            </a:r>
            <a:endParaRPr lang="en-US" sz="1200"/>
          </a:p>
        </p:txBody>
      </p:sp>
      <p:sp>
        <p:nvSpPr>
          <p:cNvPr id="1428873255" name="Text 2"/>
          <p:cNvSpPr/>
          <p:nvPr/>
        </p:nvSpPr>
        <p:spPr bwMode="auto">
          <a:xfrm>
            <a:off x="523577" y="2806973"/>
            <a:ext cx="258983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Pesquisa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qualitativa exploratória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com técnica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lexicométrica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aplicada a dados textuais espontâneos coletados em plataformas digitais.</a:t>
            </a:r>
            <a:endParaRPr lang="en-US" sz="1000"/>
          </a:p>
        </p:txBody>
      </p:sp>
      <p:pic>
        <p:nvPicPr>
          <p:cNvPr id="9948779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77046" y="1232818"/>
            <a:ext cx="1139503" cy="1139503"/>
          </a:xfrm>
          <a:prstGeom prst="rect">
            <a:avLst/>
          </a:prstGeom>
        </p:spPr>
      </p:pic>
      <p:sp>
        <p:nvSpPr>
          <p:cNvPr id="1083739320" name="Text 3"/>
          <p:cNvSpPr/>
          <p:nvPr/>
        </p:nvSpPr>
        <p:spPr bwMode="auto">
          <a:xfrm>
            <a:off x="3277046" y="25359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Corpus</a:t>
            </a:r>
            <a:endParaRPr lang="en-US" sz="1200"/>
          </a:p>
        </p:txBody>
      </p:sp>
      <p:sp>
        <p:nvSpPr>
          <p:cNvPr id="925550026" name="Text 4"/>
          <p:cNvSpPr/>
          <p:nvPr/>
        </p:nvSpPr>
        <p:spPr bwMode="auto">
          <a:xfrm>
            <a:off x="3277046" y="2806973"/>
            <a:ext cx="258983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27 relatos públicos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 extraídos de LinkedIn (16), YouTube (7) e TikTok (4). Coleta: março/maio de 2025, com mitigação de viés algorítmico.</a:t>
            </a:r>
            <a:endParaRPr lang="en-US" sz="1000"/>
          </a:p>
        </p:txBody>
      </p:sp>
      <p:pic>
        <p:nvPicPr>
          <p:cNvPr id="6053632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30516" y="1232818"/>
            <a:ext cx="1139503" cy="1139503"/>
          </a:xfrm>
          <a:prstGeom prst="rect">
            <a:avLst/>
          </a:prstGeom>
        </p:spPr>
      </p:pic>
      <p:sp>
        <p:nvSpPr>
          <p:cNvPr id="926740795" name="Text 5"/>
          <p:cNvSpPr/>
          <p:nvPr/>
        </p:nvSpPr>
        <p:spPr bwMode="auto">
          <a:xfrm>
            <a:off x="6030516" y="25359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Ferramentas</a:t>
            </a:r>
            <a:endParaRPr lang="en-US" sz="1200"/>
          </a:p>
        </p:txBody>
      </p:sp>
      <p:sp>
        <p:nvSpPr>
          <p:cNvPr id="7544829" name="Text 6"/>
          <p:cNvSpPr/>
          <p:nvPr/>
        </p:nvSpPr>
        <p:spPr bwMode="auto">
          <a:xfrm>
            <a:off x="6030516" y="2806973"/>
            <a:ext cx="2589907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Software </a:t>
            </a:r>
            <a:r>
              <a:rPr lang="en-US" sz="100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IRaMuTeQ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</a:rPr>
              <a:t>: Nuvem de Palavras, Classificação Hierárquica Descendente (CHD) e Análise Fatorial de Correspondência (AFC).</a:t>
            </a:r>
            <a:endParaRPr lang="en-US" sz="1000"/>
          </a:p>
        </p:txBody>
      </p:sp>
      <p:sp>
        <p:nvSpPr>
          <p:cNvPr id="1232147706" name="Shape 7"/>
          <p:cNvSpPr/>
          <p:nvPr/>
        </p:nvSpPr>
        <p:spPr bwMode="auto">
          <a:xfrm>
            <a:off x="523577" y="3791843"/>
            <a:ext cx="8096845" cy="765572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1568378829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4471" y="3988445"/>
            <a:ext cx="163637" cy="130894"/>
          </a:xfrm>
          <a:prstGeom prst="rect">
            <a:avLst/>
          </a:prstGeom>
        </p:spPr>
      </p:pic>
      <p:sp>
        <p:nvSpPr>
          <p:cNvPr id="918681141" name="Text 8"/>
          <p:cNvSpPr/>
          <p:nvPr/>
        </p:nvSpPr>
        <p:spPr bwMode="auto">
          <a:xfrm>
            <a:off x="949003" y="3955404"/>
            <a:ext cx="754052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</a:rPr>
              <a:t>Critérios de inclusão: pertencimento declarado à Geração Z, abordagem de trabalho/tempo livre/pausas e conteúdo em língua portuguesa.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922092" name="Text 0"/>
          <p:cNvSpPr/>
          <p:nvPr/>
        </p:nvSpPr>
        <p:spPr bwMode="auto">
          <a:xfrm>
            <a:off x="449982" y="459581"/>
            <a:ext cx="8661350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Resultados: Estatística Textual e Centralidade do Tempo</a:t>
            </a:r>
            <a:endParaRPr lang="en-US" sz="2050"/>
          </a:p>
        </p:txBody>
      </p:sp>
      <p:sp>
        <p:nvSpPr>
          <p:cNvPr id="700964873" name="Text 1"/>
          <p:cNvSpPr/>
          <p:nvPr/>
        </p:nvSpPr>
        <p:spPr bwMode="auto">
          <a:xfrm>
            <a:off x="449982" y="1032049"/>
            <a:ext cx="210219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Indicadores do Corpus</a:t>
            </a:r>
            <a:endParaRPr lang="en-US" sz="1000"/>
          </a:p>
        </p:txBody>
      </p:sp>
      <p:sp>
        <p:nvSpPr>
          <p:cNvPr id="1974340968" name="Text 2"/>
          <p:cNvSpPr/>
          <p:nvPr/>
        </p:nvSpPr>
        <p:spPr bwMode="auto">
          <a:xfrm>
            <a:off x="449982" y="1362373"/>
            <a:ext cx="3984799" cy="29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23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4.152</a:t>
            </a:r>
            <a:endParaRPr lang="en-US" sz="2300"/>
          </a:p>
        </p:txBody>
      </p:sp>
      <p:sp>
        <p:nvSpPr>
          <p:cNvPr id="2065039815" name="Text 3"/>
          <p:cNvSpPr/>
          <p:nvPr/>
        </p:nvSpPr>
        <p:spPr bwMode="auto">
          <a:xfrm>
            <a:off x="1780580" y="1788021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Ocorrências</a:t>
            </a:r>
            <a:endParaRPr lang="en-US" sz="1000"/>
          </a:p>
        </p:txBody>
      </p:sp>
      <p:sp>
        <p:nvSpPr>
          <p:cNvPr id="1409416825" name="Text 4"/>
          <p:cNvSpPr/>
          <p:nvPr/>
        </p:nvSpPr>
        <p:spPr bwMode="auto">
          <a:xfrm>
            <a:off x="449982" y="2050107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Tokens totais no corpus analisado</a:t>
            </a:r>
            <a:endParaRPr lang="en-US" sz="850"/>
          </a:p>
        </p:txBody>
      </p:sp>
      <p:sp>
        <p:nvSpPr>
          <p:cNvPr id="1124561488" name="Text 5"/>
          <p:cNvSpPr/>
          <p:nvPr/>
        </p:nvSpPr>
        <p:spPr bwMode="auto">
          <a:xfrm>
            <a:off x="449982" y="2466975"/>
            <a:ext cx="3984799" cy="3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29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945</a:t>
            </a:r>
            <a:endParaRPr lang="en-US" sz="2900"/>
          </a:p>
        </p:txBody>
      </p:sp>
      <p:sp>
        <p:nvSpPr>
          <p:cNvPr id="1875731682" name="Text 6"/>
          <p:cNvSpPr/>
          <p:nvPr/>
        </p:nvSpPr>
        <p:spPr bwMode="auto">
          <a:xfrm>
            <a:off x="1780580" y="2966889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Formas Ativas</a:t>
            </a:r>
            <a:endParaRPr lang="en-US" sz="1000"/>
          </a:p>
        </p:txBody>
      </p:sp>
      <p:sp>
        <p:nvSpPr>
          <p:cNvPr id="2068985304" name="Text 7"/>
          <p:cNvSpPr/>
          <p:nvPr/>
        </p:nvSpPr>
        <p:spPr bwMode="auto">
          <a:xfrm>
            <a:off x="449982" y="3228975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Formas lexicais distintas identificadas</a:t>
            </a:r>
            <a:endParaRPr lang="en-US" sz="850"/>
          </a:p>
        </p:txBody>
      </p:sp>
      <p:sp>
        <p:nvSpPr>
          <p:cNvPr id="1556056044" name="Text 8"/>
          <p:cNvSpPr/>
          <p:nvPr/>
        </p:nvSpPr>
        <p:spPr bwMode="auto">
          <a:xfrm>
            <a:off x="449982" y="3645843"/>
            <a:ext cx="3984799" cy="37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  <a:defRPr/>
            </a:pPr>
            <a:r>
              <a:rPr lang="en-US" sz="29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~51%</a:t>
            </a:r>
            <a:endParaRPr lang="en-US" sz="2900"/>
          </a:p>
        </p:txBody>
      </p:sp>
      <p:sp>
        <p:nvSpPr>
          <p:cNvPr id="989813023" name="Text 9"/>
          <p:cNvSpPr/>
          <p:nvPr/>
        </p:nvSpPr>
        <p:spPr bwMode="auto">
          <a:xfrm>
            <a:off x="1780580" y="4145756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Hapax Legomena</a:t>
            </a:r>
            <a:endParaRPr lang="en-US" sz="1000"/>
          </a:p>
        </p:txBody>
      </p:sp>
      <p:sp>
        <p:nvSpPr>
          <p:cNvPr id="270036574" name="Text 10"/>
          <p:cNvSpPr/>
          <p:nvPr/>
        </p:nvSpPr>
        <p:spPr bwMode="auto">
          <a:xfrm>
            <a:off x="449982" y="4407843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Termos únicos, indicando alta diversidade discursiva</a:t>
            </a:r>
            <a:endParaRPr lang="en-US" sz="850"/>
          </a:p>
        </p:txBody>
      </p:sp>
      <p:sp>
        <p:nvSpPr>
          <p:cNvPr id="1610814649" name="Text 11"/>
          <p:cNvSpPr/>
          <p:nvPr/>
        </p:nvSpPr>
        <p:spPr bwMode="auto">
          <a:xfrm>
            <a:off x="4713982" y="1032049"/>
            <a:ext cx="3780681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Termos Mais Frequentes (Nuvem de Palavras)</a:t>
            </a:r>
            <a:endParaRPr lang="en-US" sz="1000"/>
          </a:p>
        </p:txBody>
      </p:sp>
      <p:sp>
        <p:nvSpPr>
          <p:cNvPr id="1736790482" name="Shape 12"/>
          <p:cNvSpPr/>
          <p:nvPr/>
        </p:nvSpPr>
        <p:spPr bwMode="auto">
          <a:xfrm>
            <a:off x="4713982" y="1306190"/>
            <a:ext cx="3984799" cy="2059260"/>
          </a:xfrm>
          <a:prstGeom prst="roundRect">
            <a:avLst>
              <a:gd name="adj" fmla="val 81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76109408" name="Shape 13"/>
          <p:cNvSpPr/>
          <p:nvPr/>
        </p:nvSpPr>
        <p:spPr bwMode="auto">
          <a:xfrm>
            <a:off x="4718745" y="1310953"/>
            <a:ext cx="3975274" cy="292819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826676347" name="Text 14"/>
          <p:cNvSpPr/>
          <p:nvPr/>
        </p:nvSpPr>
        <p:spPr bwMode="auto">
          <a:xfrm>
            <a:off x="4831259" y="1373684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Termo</a:t>
            </a:r>
            <a:endParaRPr lang="en-US" sz="850"/>
          </a:p>
        </p:txBody>
      </p:sp>
      <p:sp>
        <p:nvSpPr>
          <p:cNvPr id="1882036987" name="Text 15"/>
          <p:cNvSpPr/>
          <p:nvPr/>
        </p:nvSpPr>
        <p:spPr bwMode="auto">
          <a:xfrm>
            <a:off x="6821239" y="1373684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Frequência</a:t>
            </a:r>
            <a:endParaRPr lang="en-US" sz="850"/>
          </a:p>
        </p:txBody>
      </p:sp>
      <p:sp>
        <p:nvSpPr>
          <p:cNvPr id="559909035" name="Shape 16"/>
          <p:cNvSpPr/>
          <p:nvPr/>
        </p:nvSpPr>
        <p:spPr bwMode="auto">
          <a:xfrm>
            <a:off x="4718745" y="1603772"/>
            <a:ext cx="3975274" cy="292819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897106221" name="Text 17"/>
          <p:cNvSpPr/>
          <p:nvPr/>
        </p:nvSpPr>
        <p:spPr bwMode="auto">
          <a:xfrm>
            <a:off x="4831259" y="1666503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TRABALHO</a:t>
            </a:r>
            <a:endParaRPr lang="en-US" sz="850"/>
          </a:p>
        </p:txBody>
      </p:sp>
      <p:sp>
        <p:nvSpPr>
          <p:cNvPr id="1430283818" name="Text 18"/>
          <p:cNvSpPr/>
          <p:nvPr/>
        </p:nvSpPr>
        <p:spPr bwMode="auto">
          <a:xfrm>
            <a:off x="6821239" y="1666503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58</a:t>
            </a:r>
            <a:endParaRPr lang="en-US" sz="850"/>
          </a:p>
        </p:txBody>
      </p:sp>
      <p:sp>
        <p:nvSpPr>
          <p:cNvPr id="569980370" name="Shape 19"/>
          <p:cNvSpPr/>
          <p:nvPr/>
        </p:nvSpPr>
        <p:spPr bwMode="auto">
          <a:xfrm>
            <a:off x="4718745" y="1896591"/>
            <a:ext cx="3975274" cy="292819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1046286916" name="Text 20"/>
          <p:cNvSpPr/>
          <p:nvPr/>
        </p:nvSpPr>
        <p:spPr bwMode="auto">
          <a:xfrm>
            <a:off x="4831259" y="1959322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TEMPO</a:t>
            </a:r>
            <a:endParaRPr lang="en-US" sz="850"/>
          </a:p>
        </p:txBody>
      </p:sp>
      <p:sp>
        <p:nvSpPr>
          <p:cNvPr id="1408085418" name="Text 21"/>
          <p:cNvSpPr/>
          <p:nvPr/>
        </p:nvSpPr>
        <p:spPr bwMode="auto">
          <a:xfrm>
            <a:off x="6821239" y="1959322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44</a:t>
            </a:r>
            <a:endParaRPr lang="en-US" sz="850"/>
          </a:p>
        </p:txBody>
      </p:sp>
      <p:sp>
        <p:nvSpPr>
          <p:cNvPr id="346687989" name="Shape 22"/>
          <p:cNvSpPr/>
          <p:nvPr/>
        </p:nvSpPr>
        <p:spPr bwMode="auto">
          <a:xfrm>
            <a:off x="4718745" y="2189411"/>
            <a:ext cx="3975274" cy="292819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1907905781" name="Text 23"/>
          <p:cNvSpPr/>
          <p:nvPr/>
        </p:nvSpPr>
        <p:spPr bwMode="auto">
          <a:xfrm>
            <a:off x="4831259" y="2252142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GERAÇÃO Z</a:t>
            </a:r>
            <a:endParaRPr lang="en-US" sz="850"/>
          </a:p>
        </p:txBody>
      </p:sp>
      <p:sp>
        <p:nvSpPr>
          <p:cNvPr id="1578882690" name="Text 24"/>
          <p:cNvSpPr/>
          <p:nvPr/>
        </p:nvSpPr>
        <p:spPr bwMode="auto">
          <a:xfrm>
            <a:off x="6821239" y="2252142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37</a:t>
            </a:r>
            <a:endParaRPr lang="en-US" sz="850"/>
          </a:p>
        </p:txBody>
      </p:sp>
      <p:sp>
        <p:nvSpPr>
          <p:cNvPr id="1862299103" name="Shape 25"/>
          <p:cNvSpPr/>
          <p:nvPr/>
        </p:nvSpPr>
        <p:spPr bwMode="auto">
          <a:xfrm>
            <a:off x="4718745" y="2482230"/>
            <a:ext cx="3975274" cy="292819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32261166" name="Text 26"/>
          <p:cNvSpPr/>
          <p:nvPr/>
        </p:nvSpPr>
        <p:spPr bwMode="auto">
          <a:xfrm>
            <a:off x="4831259" y="2544961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VIDA</a:t>
            </a:r>
            <a:endParaRPr lang="en-US" sz="850"/>
          </a:p>
        </p:txBody>
      </p:sp>
      <p:sp>
        <p:nvSpPr>
          <p:cNvPr id="1539790452" name="Text 27"/>
          <p:cNvSpPr/>
          <p:nvPr/>
        </p:nvSpPr>
        <p:spPr bwMode="auto">
          <a:xfrm>
            <a:off x="6821239" y="2544961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35</a:t>
            </a:r>
            <a:endParaRPr lang="en-US" sz="850"/>
          </a:p>
        </p:txBody>
      </p:sp>
      <p:sp>
        <p:nvSpPr>
          <p:cNvPr id="2065725837" name="Shape 28"/>
          <p:cNvSpPr/>
          <p:nvPr/>
        </p:nvSpPr>
        <p:spPr bwMode="auto">
          <a:xfrm>
            <a:off x="4718745" y="2775048"/>
            <a:ext cx="3975274" cy="292819"/>
          </a:xfrm>
          <a:prstGeom prst="rect">
            <a:avLst/>
          </a:prstGeom>
          <a:solidFill>
            <a:srgbClr val="000000">
              <a:alpha val="3999"/>
            </a:srgbClr>
          </a:solidFill>
          <a:ln/>
        </p:spPr>
      </p:sp>
      <p:sp>
        <p:nvSpPr>
          <p:cNvPr id="282844400" name="Text 29"/>
          <p:cNvSpPr/>
          <p:nvPr/>
        </p:nvSpPr>
        <p:spPr bwMode="auto">
          <a:xfrm>
            <a:off x="4831259" y="2837780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EMPRESA</a:t>
            </a:r>
            <a:endParaRPr lang="en-US" sz="850"/>
          </a:p>
        </p:txBody>
      </p:sp>
      <p:sp>
        <p:nvSpPr>
          <p:cNvPr id="1906158876" name="Text 30"/>
          <p:cNvSpPr/>
          <p:nvPr/>
        </p:nvSpPr>
        <p:spPr bwMode="auto">
          <a:xfrm>
            <a:off x="6821239" y="2837780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31</a:t>
            </a:r>
            <a:endParaRPr lang="en-US" sz="850"/>
          </a:p>
        </p:txBody>
      </p:sp>
      <p:sp>
        <p:nvSpPr>
          <p:cNvPr id="2062241031" name="Shape 31"/>
          <p:cNvSpPr/>
          <p:nvPr/>
        </p:nvSpPr>
        <p:spPr bwMode="auto">
          <a:xfrm>
            <a:off x="4718745" y="3067869"/>
            <a:ext cx="3975274" cy="292819"/>
          </a:xfrm>
          <a:prstGeom prst="rect">
            <a:avLst/>
          </a:prstGeom>
          <a:solidFill>
            <a:srgbClr val="FFFFFF">
              <a:alpha val="3999"/>
            </a:srgbClr>
          </a:solidFill>
          <a:ln/>
        </p:spPr>
      </p:sp>
      <p:sp>
        <p:nvSpPr>
          <p:cNvPr id="604345156" name="Text 32"/>
          <p:cNvSpPr/>
          <p:nvPr/>
        </p:nvSpPr>
        <p:spPr bwMode="auto">
          <a:xfrm>
            <a:off x="4831259" y="3130600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PAUSA</a:t>
            </a:r>
            <a:endParaRPr lang="en-US" sz="850"/>
          </a:p>
        </p:txBody>
      </p:sp>
      <p:sp>
        <p:nvSpPr>
          <p:cNvPr id="1464676077" name="Text 33"/>
          <p:cNvSpPr/>
          <p:nvPr/>
        </p:nvSpPr>
        <p:spPr bwMode="auto">
          <a:xfrm>
            <a:off x="6821239" y="3130600"/>
            <a:ext cx="221753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28</a:t>
            </a:r>
            <a:endParaRPr lang="en-US" sz="850"/>
          </a:p>
        </p:txBody>
      </p:sp>
      <p:sp>
        <p:nvSpPr>
          <p:cNvPr id="1140464435" name="Shape 34"/>
          <p:cNvSpPr/>
          <p:nvPr/>
        </p:nvSpPr>
        <p:spPr bwMode="auto">
          <a:xfrm>
            <a:off x="4713982" y="3474169"/>
            <a:ext cx="3984799" cy="769962"/>
          </a:xfrm>
          <a:prstGeom prst="roundRect">
            <a:avLst>
              <a:gd name="adj" fmla="val 2192"/>
            </a:avLst>
          </a:prstGeom>
          <a:solidFill>
            <a:srgbClr val="0F004D"/>
          </a:solidFill>
          <a:ln/>
        </p:spPr>
      </p:sp>
      <p:pic>
        <p:nvPicPr>
          <p:cNvPr id="19663365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26422" y="3635276"/>
            <a:ext cx="140568" cy="112440"/>
          </a:xfrm>
          <a:prstGeom prst="rect">
            <a:avLst/>
          </a:prstGeom>
        </p:spPr>
      </p:pic>
      <p:sp>
        <p:nvSpPr>
          <p:cNvPr id="2024075313" name="Text 35"/>
          <p:cNvSpPr/>
          <p:nvPr/>
        </p:nvSpPr>
        <p:spPr bwMode="auto">
          <a:xfrm>
            <a:off x="5079429" y="3598887"/>
            <a:ext cx="3506912" cy="50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FFFFFF"/>
                </a:solidFill>
                <a:latin typeface="Arimo"/>
                <a:ea typeface="Arimo"/>
                <a:cs typeface="Arimo"/>
              </a:rPr>
              <a:t>O léxico central </a:t>
            </a:r>
            <a:r>
              <a:rPr lang="en-US" sz="8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não</a:t>
            </a:r>
            <a:r>
              <a:rPr lang="en-US" sz="850">
                <a:solidFill>
                  <a:srgbClr val="FFFFFF"/>
                </a:solidFill>
                <a:latin typeface="Arimo"/>
                <a:ea typeface="Arimo"/>
                <a:cs typeface="Arimo"/>
              </a:rPr>
              <a:t> gira em torno de "salário" ou "promoção" — a disputa contemporânea é fundamentalmente </a:t>
            </a:r>
            <a:r>
              <a:rPr lang="en-US" sz="850" b="1">
                <a:solidFill>
                  <a:srgbClr val="8061FF"/>
                </a:solidFill>
                <a:latin typeface="Arimo"/>
                <a:ea typeface="Arimo"/>
                <a:cs typeface="Arimo"/>
              </a:rPr>
              <a:t>temporal e existencial</a:t>
            </a:r>
            <a:r>
              <a:rPr lang="en-US" sz="850">
                <a:solidFill>
                  <a:srgbClr val="FFFFFF"/>
                </a:solidFill>
                <a:latin typeface="Arimo"/>
                <a:ea typeface="Arimo"/>
                <a:cs typeface="Arimo"/>
              </a:rPr>
              <a:t>, não econômica.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881277" name="Text 0"/>
          <p:cNvSpPr/>
          <p:nvPr/>
        </p:nvSpPr>
        <p:spPr bwMode="auto">
          <a:xfrm>
            <a:off x="507281" y="421928"/>
            <a:ext cx="8129439" cy="74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Resultados: Cartografia Semântica e Renegociação</a:t>
            </a:r>
            <a:endParaRPr lang="en-US" sz="2300"/>
          </a:p>
        </p:txBody>
      </p:sp>
      <p:sp>
        <p:nvSpPr>
          <p:cNvPr id="616507096" name="Text 1"/>
          <p:cNvSpPr/>
          <p:nvPr/>
        </p:nvSpPr>
        <p:spPr bwMode="auto">
          <a:xfrm>
            <a:off x="507281" y="1413495"/>
            <a:ext cx="8129439" cy="598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 Análise Fatorial de Correspondência (AFC) revelou universos discursivos distintos. O Quadrante Inferior Direito (Classes 3 e 4) concentra narrativas corporativas da Geração Z, com vocabulário de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propósito, carreira, modelo e cultura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— um registro abstrato e planejado de questionamento sistêmico.</a:t>
            </a:r>
            <a:endParaRPr lang="en-US" sz="950"/>
          </a:p>
        </p:txBody>
      </p:sp>
      <p:sp>
        <p:nvSpPr>
          <p:cNvPr id="1672104559" name="Text 2"/>
          <p:cNvSpPr/>
          <p:nvPr/>
        </p:nvSpPr>
        <p:spPr bwMode="auto">
          <a:xfrm>
            <a:off x="507281" y="2196703"/>
            <a:ext cx="3670176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Dupla Tática de Resistência Geracional</a:t>
            </a:r>
            <a:endParaRPr lang="en-US" sz="1150"/>
          </a:p>
        </p:txBody>
      </p:sp>
      <p:sp>
        <p:nvSpPr>
          <p:cNvPr id="1178075166" name="Shape 3"/>
          <p:cNvSpPr/>
          <p:nvPr/>
        </p:nvSpPr>
        <p:spPr bwMode="auto">
          <a:xfrm>
            <a:off x="507281" y="2567434"/>
            <a:ext cx="8129439" cy="1288256"/>
          </a:xfrm>
          <a:prstGeom prst="roundRect">
            <a:avLst>
              <a:gd name="adj" fmla="val 147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04759426" name="Text 4"/>
          <p:cNvSpPr/>
          <p:nvPr/>
        </p:nvSpPr>
        <p:spPr bwMode="auto">
          <a:xfrm>
            <a:off x="638994" y="2650629"/>
            <a:ext cx="288071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Fenômeno</a:t>
            </a:r>
            <a:endParaRPr lang="en-US" sz="950"/>
          </a:p>
        </p:txBody>
      </p:sp>
      <p:sp>
        <p:nvSpPr>
          <p:cNvPr id="974092168" name="Text 5"/>
          <p:cNvSpPr/>
          <p:nvPr/>
        </p:nvSpPr>
        <p:spPr bwMode="auto">
          <a:xfrm>
            <a:off x="3320876" y="2650629"/>
            <a:ext cx="287833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Nível de Atuação</a:t>
            </a:r>
            <a:endParaRPr lang="en-US" sz="950"/>
          </a:p>
        </p:txBody>
      </p:sp>
      <p:sp>
        <p:nvSpPr>
          <p:cNvPr id="921885133" name="Text 6"/>
          <p:cNvSpPr/>
          <p:nvPr/>
        </p:nvSpPr>
        <p:spPr bwMode="auto">
          <a:xfrm>
            <a:off x="6000378" y="2650629"/>
            <a:ext cx="2961977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Função Estratégica</a:t>
            </a:r>
            <a:endParaRPr lang="en-US" sz="950"/>
          </a:p>
        </p:txBody>
      </p:sp>
      <p:sp>
        <p:nvSpPr>
          <p:cNvPr id="1030808370" name="Text 7"/>
          <p:cNvSpPr/>
          <p:nvPr/>
        </p:nvSpPr>
        <p:spPr bwMode="auto">
          <a:xfrm>
            <a:off x="638994" y="3011909"/>
            <a:ext cx="288071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Quiet Quitting</a:t>
            </a:r>
            <a:endParaRPr lang="en-US" sz="950"/>
          </a:p>
        </p:txBody>
      </p:sp>
      <p:sp>
        <p:nvSpPr>
          <p:cNvPr id="356382379" name="Text 8"/>
          <p:cNvSpPr/>
          <p:nvPr/>
        </p:nvSpPr>
        <p:spPr bwMode="auto">
          <a:xfrm>
            <a:off x="3320876" y="3011909"/>
            <a:ext cx="287833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Micro-resistência (energia diária)</a:t>
            </a:r>
            <a:endParaRPr lang="en-US" sz="950"/>
          </a:p>
        </p:txBody>
      </p:sp>
      <p:sp>
        <p:nvSpPr>
          <p:cNvPr id="1438571039" name="Text 9"/>
          <p:cNvSpPr/>
          <p:nvPr/>
        </p:nvSpPr>
        <p:spPr bwMode="auto">
          <a:xfrm>
            <a:off x="6000378" y="3011909"/>
            <a:ext cx="2961977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Calibragem do esforço ao mínimo contratual</a:t>
            </a:r>
            <a:endParaRPr lang="en-US" sz="950"/>
          </a:p>
        </p:txBody>
      </p:sp>
      <p:sp>
        <p:nvSpPr>
          <p:cNvPr id="535759305" name="Text 10"/>
          <p:cNvSpPr/>
          <p:nvPr/>
        </p:nvSpPr>
        <p:spPr bwMode="auto">
          <a:xfrm>
            <a:off x="638994" y="3373189"/>
            <a:ext cx="288071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Microaposentadorias</a:t>
            </a:r>
            <a:endParaRPr lang="en-US" sz="950"/>
          </a:p>
        </p:txBody>
      </p:sp>
      <p:sp>
        <p:nvSpPr>
          <p:cNvPr id="294229635" name="Text 11"/>
          <p:cNvSpPr/>
          <p:nvPr/>
        </p:nvSpPr>
        <p:spPr bwMode="auto">
          <a:xfrm>
            <a:off x="3320876" y="3373189"/>
            <a:ext cx="2878336" cy="1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Macro-resistência (trajetória de vida)</a:t>
            </a:r>
            <a:endParaRPr lang="en-US" sz="950"/>
          </a:p>
        </p:txBody>
      </p:sp>
      <p:sp>
        <p:nvSpPr>
          <p:cNvPr id="193824511" name="Text 12"/>
          <p:cNvSpPr/>
          <p:nvPr/>
        </p:nvSpPr>
        <p:spPr bwMode="auto">
          <a:xfrm>
            <a:off x="6000378" y="3373189"/>
            <a:ext cx="2504776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Recuperação do tempo colonizado pela empresa</a:t>
            </a:r>
            <a:endParaRPr lang="en-US" sz="950"/>
          </a:p>
        </p:txBody>
      </p:sp>
      <p:sp>
        <p:nvSpPr>
          <p:cNvPr id="370632190" name="Shape 13"/>
          <p:cNvSpPr/>
          <p:nvPr/>
        </p:nvSpPr>
        <p:spPr bwMode="auto">
          <a:xfrm>
            <a:off x="507281" y="3993877"/>
            <a:ext cx="8129439" cy="727695"/>
          </a:xfrm>
          <a:prstGeom prst="roundRect">
            <a:avLst>
              <a:gd name="adj" fmla="val 2614"/>
            </a:avLst>
          </a:prstGeom>
          <a:solidFill>
            <a:srgbClr val="022349"/>
          </a:solidFill>
          <a:ln/>
        </p:spPr>
      </p:sp>
      <p:pic>
        <p:nvPicPr>
          <p:cNvPr id="197174651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4082" y="4179540"/>
            <a:ext cx="158502" cy="126802"/>
          </a:xfrm>
          <a:prstGeom prst="rect">
            <a:avLst/>
          </a:prstGeom>
        </p:spPr>
      </p:pic>
      <p:sp>
        <p:nvSpPr>
          <p:cNvPr id="843345184" name="Text 14"/>
          <p:cNvSpPr/>
          <p:nvPr/>
        </p:nvSpPr>
        <p:spPr bwMode="auto">
          <a:xfrm>
            <a:off x="919386" y="4148360"/>
            <a:ext cx="7590532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Contrasta com o vocabulário de trabalhadores em precarização extrema, focado em sobrevivência material. A Geração Z corporativa trava uma </a:t>
            </a:r>
            <a:r>
              <a:rPr lang="en-US" sz="950" b="1">
                <a:solidFill>
                  <a:srgbClr val="FFFFFF"/>
                </a:solidFill>
                <a:latin typeface="Arimo"/>
                <a:ea typeface="Arimo"/>
                <a:cs typeface="Arimo"/>
              </a:rPr>
              <a:t>batalha pelo sentido e pelo tempo</a:t>
            </a: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, não pelo emprego.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206" name="Text 0"/>
          <p:cNvSpPr/>
          <p:nvPr/>
        </p:nvSpPr>
        <p:spPr bwMode="auto">
          <a:xfrm>
            <a:off x="449982" y="359941"/>
            <a:ext cx="5826993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Implicações para Gestão de Pessoas</a:t>
            </a:r>
            <a:endParaRPr lang="en-US" sz="2050"/>
          </a:p>
        </p:txBody>
      </p:sp>
      <p:sp>
        <p:nvSpPr>
          <p:cNvPr id="1365669808" name="Text 1"/>
          <p:cNvSpPr/>
          <p:nvPr/>
        </p:nvSpPr>
        <p:spPr bwMode="auto">
          <a:xfrm>
            <a:off x="449982" y="932408"/>
            <a:ext cx="2232124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Mudança de Paradigma</a:t>
            </a:r>
            <a:endParaRPr lang="en-US" sz="1000"/>
          </a:p>
        </p:txBody>
      </p:sp>
      <p:sp>
        <p:nvSpPr>
          <p:cNvPr id="1179366002" name="Shape 2"/>
          <p:cNvSpPr/>
          <p:nvPr/>
        </p:nvSpPr>
        <p:spPr bwMode="auto">
          <a:xfrm>
            <a:off x="449982" y="1206550"/>
            <a:ext cx="1944067" cy="1352327"/>
          </a:xfrm>
          <a:prstGeom prst="roundRect">
            <a:avLst>
              <a:gd name="adj" fmla="val 5071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780408554" name="Shape 3"/>
          <p:cNvSpPr/>
          <p:nvPr/>
        </p:nvSpPr>
        <p:spPr bwMode="auto">
          <a:xfrm>
            <a:off x="435694" y="1206550"/>
            <a:ext cx="57150" cy="1352327"/>
          </a:xfrm>
          <a:prstGeom prst="roundRect">
            <a:avLst>
              <a:gd name="adj" fmla="val 29528"/>
            </a:avLst>
          </a:prstGeom>
          <a:solidFill>
            <a:srgbClr val="8061FF"/>
          </a:solidFill>
          <a:ln/>
        </p:spPr>
      </p:sp>
      <p:sp>
        <p:nvSpPr>
          <p:cNvPr id="1396034088" name="Text 4"/>
          <p:cNvSpPr/>
          <p:nvPr/>
        </p:nvSpPr>
        <p:spPr bwMode="auto">
          <a:xfrm>
            <a:off x="619571" y="1333277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❌</a:t>
            </a: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Visão Obsoleta</a:t>
            </a:r>
            <a:endParaRPr lang="en-US" sz="1000"/>
          </a:p>
        </p:txBody>
      </p:sp>
      <p:sp>
        <p:nvSpPr>
          <p:cNvPr id="715218916" name="Text 5"/>
          <p:cNvSpPr/>
          <p:nvPr/>
        </p:nvSpPr>
        <p:spPr bwMode="auto">
          <a:xfrm>
            <a:off x="619571" y="1595363"/>
            <a:ext cx="1647751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Tratar o quiet quitting como "falta de engajamento" resolvível com ações pontuais de clima organizacional.</a:t>
            </a:r>
            <a:endParaRPr lang="en-US" sz="850"/>
          </a:p>
        </p:txBody>
      </p:sp>
      <p:sp>
        <p:nvSpPr>
          <p:cNvPr id="1792373492" name="Shape 6"/>
          <p:cNvSpPr/>
          <p:nvPr/>
        </p:nvSpPr>
        <p:spPr bwMode="auto">
          <a:xfrm>
            <a:off x="2490713" y="1206550"/>
            <a:ext cx="1944067" cy="1352327"/>
          </a:xfrm>
          <a:prstGeom prst="roundRect">
            <a:avLst>
              <a:gd name="adj" fmla="val 5071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292252862" name="Shape 7"/>
          <p:cNvSpPr/>
          <p:nvPr/>
        </p:nvSpPr>
        <p:spPr bwMode="auto">
          <a:xfrm>
            <a:off x="2476426" y="1206550"/>
            <a:ext cx="57150" cy="1352327"/>
          </a:xfrm>
          <a:prstGeom prst="roundRect">
            <a:avLst>
              <a:gd name="adj" fmla="val 29528"/>
            </a:avLst>
          </a:prstGeom>
          <a:solidFill>
            <a:srgbClr val="8061FF"/>
          </a:solidFill>
          <a:ln/>
        </p:spPr>
      </p:sp>
      <p:sp>
        <p:nvSpPr>
          <p:cNvPr id="1024861092" name="Text 8"/>
          <p:cNvSpPr/>
          <p:nvPr/>
        </p:nvSpPr>
        <p:spPr bwMode="auto">
          <a:xfrm>
            <a:off x="2660303" y="1333277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✅</a:t>
            </a: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Nova Leitura</a:t>
            </a:r>
            <a:endParaRPr lang="en-US" sz="1000"/>
          </a:p>
        </p:txBody>
      </p:sp>
      <p:sp>
        <p:nvSpPr>
          <p:cNvPr id="54964129" name="Text 9"/>
          <p:cNvSpPr/>
          <p:nvPr/>
        </p:nvSpPr>
        <p:spPr bwMode="auto">
          <a:xfrm>
            <a:off x="2660303" y="1595363"/>
            <a:ext cx="1647751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Reconhecer como sintoma de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violação estrutural do contrato psicológico</a:t>
            </a: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, exigindo redesenho profundo das políticas de pessoas.</a:t>
            </a:r>
            <a:endParaRPr lang="en-US" sz="850"/>
          </a:p>
        </p:txBody>
      </p:sp>
      <p:sp>
        <p:nvSpPr>
          <p:cNvPr id="1912748257" name="Text 10"/>
          <p:cNvSpPr/>
          <p:nvPr/>
        </p:nvSpPr>
        <p:spPr bwMode="auto">
          <a:xfrm>
            <a:off x="449982" y="2667595"/>
            <a:ext cx="313580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Novas Cláusulas do Contrato (Gen Z)</a:t>
            </a:r>
            <a:endParaRPr lang="en-US" sz="1000"/>
          </a:p>
        </p:txBody>
      </p:sp>
      <p:sp>
        <p:nvSpPr>
          <p:cNvPr id="634679934" name="Text 11"/>
          <p:cNvSpPr/>
          <p:nvPr/>
        </p:nvSpPr>
        <p:spPr bwMode="auto">
          <a:xfrm>
            <a:off x="449982" y="2941737"/>
            <a:ext cx="224954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Syne Light"/>
                <a:ea typeface="Syne Light"/>
                <a:cs typeface="Syne Light"/>
              </a:rPr>
              <a:t>01</a:t>
            </a:r>
            <a:endParaRPr lang="en-US" sz="850"/>
          </a:p>
        </p:txBody>
      </p:sp>
      <p:sp>
        <p:nvSpPr>
          <p:cNvPr id="2076209697" name="Shape 12"/>
          <p:cNvSpPr/>
          <p:nvPr/>
        </p:nvSpPr>
        <p:spPr bwMode="auto">
          <a:xfrm>
            <a:off x="449982" y="3118545"/>
            <a:ext cx="398479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146128460" name="Text 13"/>
          <p:cNvSpPr/>
          <p:nvPr/>
        </p:nvSpPr>
        <p:spPr bwMode="auto">
          <a:xfrm>
            <a:off x="449982" y="3203302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Bem-estar subjetivo como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pré-requisito</a:t>
            </a: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, não benefício adicional</a:t>
            </a:r>
            <a:endParaRPr lang="en-US" sz="850"/>
          </a:p>
        </p:txBody>
      </p:sp>
      <p:sp>
        <p:nvSpPr>
          <p:cNvPr id="915572435" name="Text 14"/>
          <p:cNvSpPr/>
          <p:nvPr/>
        </p:nvSpPr>
        <p:spPr bwMode="auto">
          <a:xfrm>
            <a:off x="449982" y="3551634"/>
            <a:ext cx="224954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Syne Light"/>
                <a:ea typeface="Syne Light"/>
                <a:cs typeface="Syne Light"/>
              </a:rPr>
              <a:t>02</a:t>
            </a:r>
            <a:endParaRPr lang="en-US" sz="850"/>
          </a:p>
        </p:txBody>
      </p:sp>
      <p:sp>
        <p:nvSpPr>
          <p:cNvPr id="127101888" name="Shape 15"/>
          <p:cNvSpPr/>
          <p:nvPr/>
        </p:nvSpPr>
        <p:spPr bwMode="auto">
          <a:xfrm>
            <a:off x="449982" y="3728442"/>
            <a:ext cx="398479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83015766" name="Text 16"/>
          <p:cNvSpPr/>
          <p:nvPr/>
        </p:nvSpPr>
        <p:spPr bwMode="auto">
          <a:xfrm>
            <a:off x="449982" y="3813200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Controle do tempo e direito à pausa como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não negociáveis</a:t>
            </a:r>
            <a:endParaRPr lang="en-US" sz="850"/>
          </a:p>
        </p:txBody>
      </p:sp>
      <p:sp>
        <p:nvSpPr>
          <p:cNvPr id="921274115" name="Text 17"/>
          <p:cNvSpPr/>
          <p:nvPr/>
        </p:nvSpPr>
        <p:spPr bwMode="auto">
          <a:xfrm>
            <a:off x="449982" y="4161532"/>
            <a:ext cx="224954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Syne Light"/>
                <a:ea typeface="Syne Light"/>
                <a:cs typeface="Syne Light"/>
              </a:rPr>
              <a:t>03</a:t>
            </a:r>
            <a:endParaRPr lang="en-US" sz="850"/>
          </a:p>
        </p:txBody>
      </p:sp>
      <p:sp>
        <p:nvSpPr>
          <p:cNvPr id="1840841944" name="Shape 18"/>
          <p:cNvSpPr/>
          <p:nvPr/>
        </p:nvSpPr>
        <p:spPr bwMode="auto">
          <a:xfrm>
            <a:off x="449982" y="4338340"/>
            <a:ext cx="398479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329713191" name="Text 19"/>
          <p:cNvSpPr/>
          <p:nvPr/>
        </p:nvSpPr>
        <p:spPr bwMode="auto">
          <a:xfrm>
            <a:off x="449982" y="4423097"/>
            <a:ext cx="398479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Propósito e coerência organizacional como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moeda de troca</a:t>
            </a:r>
            <a:endParaRPr lang="en-US" sz="850"/>
          </a:p>
        </p:txBody>
      </p:sp>
      <p:sp>
        <p:nvSpPr>
          <p:cNvPr id="387925614" name="Text 20"/>
          <p:cNvSpPr/>
          <p:nvPr/>
        </p:nvSpPr>
        <p:spPr bwMode="auto">
          <a:xfrm>
            <a:off x="4713982" y="932408"/>
            <a:ext cx="2982590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Recomendações Práticas para RH</a:t>
            </a:r>
            <a:endParaRPr lang="en-US" sz="1000"/>
          </a:p>
        </p:txBody>
      </p:sp>
      <p:pic>
        <p:nvPicPr>
          <p:cNvPr id="29321993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756175" y="1212093"/>
            <a:ext cx="168697" cy="168697"/>
          </a:xfrm>
          <a:prstGeom prst="rect">
            <a:avLst/>
          </a:prstGeom>
        </p:spPr>
      </p:pic>
      <p:sp>
        <p:nvSpPr>
          <p:cNvPr id="1981123393" name="Text 21"/>
          <p:cNvSpPr/>
          <p:nvPr/>
        </p:nvSpPr>
        <p:spPr bwMode="auto">
          <a:xfrm>
            <a:off x="5079504" y="1206550"/>
            <a:ext cx="3619277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Migrar de lógica de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controle do tempo</a:t>
            </a: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 para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confiança nos resultados</a:t>
            </a:r>
            <a:endParaRPr lang="en-US" sz="850"/>
          </a:p>
        </p:txBody>
      </p:sp>
      <p:pic>
        <p:nvPicPr>
          <p:cNvPr id="153798386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4756175" y="1748470"/>
            <a:ext cx="168697" cy="168697"/>
          </a:xfrm>
          <a:prstGeom prst="rect">
            <a:avLst/>
          </a:prstGeom>
        </p:spPr>
      </p:pic>
      <p:sp>
        <p:nvSpPr>
          <p:cNvPr id="707476022" name="Text 22"/>
          <p:cNvSpPr/>
          <p:nvPr/>
        </p:nvSpPr>
        <p:spPr bwMode="auto">
          <a:xfrm>
            <a:off x="5079504" y="1742926"/>
            <a:ext cx="3619277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Substituir cultura de sacrifício por cultura de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sustentabilidade humana</a:t>
            </a:r>
            <a:endParaRPr lang="en-US" sz="850"/>
          </a:p>
        </p:txBody>
      </p:sp>
      <p:pic>
        <p:nvPicPr>
          <p:cNvPr id="1453675557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4756175" y="2284847"/>
            <a:ext cx="168697" cy="168697"/>
          </a:xfrm>
          <a:prstGeom prst="rect">
            <a:avLst/>
          </a:prstGeom>
        </p:spPr>
      </p:pic>
      <p:sp>
        <p:nvSpPr>
          <p:cNvPr id="726265213" name="Text 23"/>
          <p:cNvSpPr/>
          <p:nvPr/>
        </p:nvSpPr>
        <p:spPr bwMode="auto">
          <a:xfrm>
            <a:off x="5079504" y="2279303"/>
            <a:ext cx="361927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Implementar políticas de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desconexão, flexibilidade genuína e transparência cultural</a:t>
            </a:r>
            <a:endParaRPr lang="en-US" sz="850"/>
          </a:p>
        </p:txBody>
      </p:sp>
      <p:pic>
        <p:nvPicPr>
          <p:cNvPr id="933486609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4756175" y="2821223"/>
            <a:ext cx="168697" cy="168697"/>
          </a:xfrm>
          <a:prstGeom prst="rect">
            <a:avLst/>
          </a:prstGeom>
        </p:spPr>
      </p:pic>
      <p:sp>
        <p:nvSpPr>
          <p:cNvPr id="2002996784" name="Text 24"/>
          <p:cNvSpPr/>
          <p:nvPr/>
        </p:nvSpPr>
        <p:spPr bwMode="auto">
          <a:xfrm>
            <a:off x="5079504" y="2815679"/>
            <a:ext cx="361927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Validar engajamento com base no equilíbrio demandas/recursos — modelo </a:t>
            </a:r>
            <a:r>
              <a:rPr lang="en-US" sz="8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JD-R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786049" name="Shape 0"/>
          <p:cNvSpPr/>
          <p:nvPr/>
        </p:nvSpPr>
        <p:spPr bwMode="auto">
          <a:xfrm>
            <a:off x="571500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26312857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71183" y="360685"/>
            <a:ext cx="3316560" cy="4422130"/>
          </a:xfrm>
          <a:prstGeom prst="rect">
            <a:avLst/>
          </a:prstGeom>
        </p:spPr>
      </p:pic>
      <p:sp>
        <p:nvSpPr>
          <p:cNvPr id="761238951" name="Text 1"/>
          <p:cNvSpPr/>
          <p:nvPr/>
        </p:nvSpPr>
        <p:spPr bwMode="auto">
          <a:xfrm>
            <a:off x="449982" y="484808"/>
            <a:ext cx="5183535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Limitações e Riscos da Pesquisa</a:t>
            </a:r>
            <a:endParaRPr lang="en-US" sz="2050"/>
          </a:p>
        </p:txBody>
      </p:sp>
      <p:sp>
        <p:nvSpPr>
          <p:cNvPr id="1057915317" name="Text 2"/>
          <p:cNvSpPr/>
          <p:nvPr/>
        </p:nvSpPr>
        <p:spPr bwMode="auto">
          <a:xfrm>
            <a:off x="449982" y="960611"/>
            <a:ext cx="4815036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Como todo estudo qualitativo exploratório, esta pesquisa apresenta fronteiras interpretativas que devem ser consideradas na leitura dos achados.</a:t>
            </a:r>
            <a:endParaRPr lang="en-US" sz="850"/>
          </a:p>
        </p:txBody>
      </p:sp>
      <p:sp>
        <p:nvSpPr>
          <p:cNvPr id="224119750" name="Shape 3"/>
          <p:cNvSpPr/>
          <p:nvPr/>
        </p:nvSpPr>
        <p:spPr bwMode="auto">
          <a:xfrm>
            <a:off x="449982" y="1404045"/>
            <a:ext cx="4815036" cy="615628"/>
          </a:xfrm>
          <a:prstGeom prst="roundRect">
            <a:avLst>
              <a:gd name="adj" fmla="val 2741"/>
            </a:avLst>
          </a:prstGeom>
          <a:solidFill>
            <a:srgbClr val="2B2952"/>
          </a:solidFill>
          <a:ln/>
        </p:spPr>
      </p:sp>
      <p:sp>
        <p:nvSpPr>
          <p:cNvPr id="436545729" name="Text 4"/>
          <p:cNvSpPr/>
          <p:nvPr/>
        </p:nvSpPr>
        <p:spPr bwMode="auto">
          <a:xfrm>
            <a:off x="562421" y="1516484"/>
            <a:ext cx="132352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Corpus Restrito</a:t>
            </a:r>
            <a:endParaRPr lang="en-US" sz="1000"/>
          </a:p>
        </p:txBody>
      </p:sp>
      <p:sp>
        <p:nvSpPr>
          <p:cNvPr id="1339545179" name="Text 5"/>
          <p:cNvSpPr/>
          <p:nvPr/>
        </p:nvSpPr>
        <p:spPr bwMode="auto">
          <a:xfrm>
            <a:off x="562421" y="1739875"/>
            <a:ext cx="4590157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n=27 relatos impede generalizações estatísticas para a totalidade da Geração Z brasileira.</a:t>
            </a:r>
            <a:endParaRPr lang="en-US" sz="850"/>
          </a:p>
        </p:txBody>
      </p:sp>
      <p:sp>
        <p:nvSpPr>
          <p:cNvPr id="1311351015" name="Shape 6"/>
          <p:cNvSpPr/>
          <p:nvPr/>
        </p:nvSpPr>
        <p:spPr bwMode="auto">
          <a:xfrm>
            <a:off x="449982" y="2116336"/>
            <a:ext cx="4815036" cy="782985"/>
          </a:xfrm>
          <a:prstGeom prst="roundRect">
            <a:avLst>
              <a:gd name="adj" fmla="val 2155"/>
            </a:avLst>
          </a:prstGeom>
          <a:solidFill>
            <a:srgbClr val="2B2952"/>
          </a:solidFill>
          <a:ln/>
        </p:spPr>
      </p:sp>
      <p:sp>
        <p:nvSpPr>
          <p:cNvPr id="1334737135" name="Text 7"/>
          <p:cNvSpPr/>
          <p:nvPr/>
        </p:nvSpPr>
        <p:spPr bwMode="auto">
          <a:xfrm>
            <a:off x="562421" y="2228776"/>
            <a:ext cx="1636961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Viés de Seleção Digital</a:t>
            </a:r>
            <a:endParaRPr lang="en-US" sz="1000"/>
          </a:p>
        </p:txBody>
      </p:sp>
      <p:sp>
        <p:nvSpPr>
          <p:cNvPr id="680614234" name="Text 8"/>
          <p:cNvSpPr/>
          <p:nvPr/>
        </p:nvSpPr>
        <p:spPr bwMode="auto">
          <a:xfrm>
            <a:off x="562421" y="2452167"/>
            <a:ext cx="459015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Favorece profissionais formais e articulados; sub-representa setores informais, rurais ou de baixa conectividade.</a:t>
            </a:r>
            <a:endParaRPr lang="en-US" sz="850"/>
          </a:p>
        </p:txBody>
      </p:sp>
      <p:sp>
        <p:nvSpPr>
          <p:cNvPr id="1169186610" name="Shape 9"/>
          <p:cNvSpPr/>
          <p:nvPr/>
        </p:nvSpPr>
        <p:spPr bwMode="auto">
          <a:xfrm>
            <a:off x="449982" y="2995985"/>
            <a:ext cx="4815036" cy="782985"/>
          </a:xfrm>
          <a:prstGeom prst="roundRect">
            <a:avLst>
              <a:gd name="adj" fmla="val 2155"/>
            </a:avLst>
          </a:prstGeom>
          <a:solidFill>
            <a:srgbClr val="2B2952"/>
          </a:solidFill>
          <a:ln/>
        </p:spPr>
      </p:sp>
      <p:sp>
        <p:nvSpPr>
          <p:cNvPr id="570677084" name="Text 10"/>
          <p:cNvSpPr/>
          <p:nvPr/>
        </p:nvSpPr>
        <p:spPr bwMode="auto">
          <a:xfrm>
            <a:off x="562421" y="3108424"/>
            <a:ext cx="154461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Relatos Espontâneos</a:t>
            </a:r>
            <a:endParaRPr lang="en-US" sz="1000"/>
          </a:p>
        </p:txBody>
      </p:sp>
      <p:sp>
        <p:nvSpPr>
          <p:cNvPr id="453640740" name="Text 11"/>
          <p:cNvSpPr/>
          <p:nvPr/>
        </p:nvSpPr>
        <p:spPr bwMode="auto">
          <a:xfrm>
            <a:off x="562421" y="3331815"/>
            <a:ext cx="459015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Impede o controle de variáveis sociodemográficas e de contexto organizacional dos participantes.</a:t>
            </a:r>
            <a:endParaRPr lang="en-US" sz="850"/>
          </a:p>
        </p:txBody>
      </p:sp>
      <p:sp>
        <p:nvSpPr>
          <p:cNvPr id="1892948511" name="Shape 12"/>
          <p:cNvSpPr/>
          <p:nvPr/>
        </p:nvSpPr>
        <p:spPr bwMode="auto">
          <a:xfrm>
            <a:off x="449982" y="3875633"/>
            <a:ext cx="4815036" cy="782985"/>
          </a:xfrm>
          <a:prstGeom prst="roundRect">
            <a:avLst>
              <a:gd name="adj" fmla="val 2155"/>
            </a:avLst>
          </a:prstGeom>
          <a:solidFill>
            <a:srgbClr val="2B2952"/>
          </a:solidFill>
          <a:ln/>
        </p:spPr>
      </p:sp>
      <p:sp>
        <p:nvSpPr>
          <p:cNvPr id="1990340073" name="Text 13"/>
          <p:cNvSpPr/>
          <p:nvPr/>
        </p:nvSpPr>
        <p:spPr bwMode="auto">
          <a:xfrm>
            <a:off x="562421" y="3988073"/>
            <a:ext cx="1663005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Recorte Lexicométrico</a:t>
            </a:r>
            <a:endParaRPr lang="en-US" sz="1000"/>
          </a:p>
        </p:txBody>
      </p:sp>
      <p:sp>
        <p:nvSpPr>
          <p:cNvPr id="441173676" name="Text 14"/>
          <p:cNvSpPr/>
          <p:nvPr/>
        </p:nvSpPr>
        <p:spPr bwMode="auto">
          <a:xfrm>
            <a:off x="562421" y="4211464"/>
            <a:ext cx="4590157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  <a:defRPr/>
            </a:pPr>
            <a:r>
              <a:rPr lang="en-US" sz="850">
                <a:solidFill>
                  <a:srgbClr val="D9E1FF"/>
                </a:solidFill>
                <a:latin typeface="Arimo"/>
                <a:ea typeface="Arimo"/>
                <a:cs typeface="Arimo"/>
              </a:rPr>
              <a:t>Captura estrutura vocabular, mas não aprofunda motivações psicológicas individuais nem dados quantitativos de adesão.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020875" name="Text 0"/>
          <p:cNvSpPr/>
          <p:nvPr/>
        </p:nvSpPr>
        <p:spPr bwMode="auto">
          <a:xfrm>
            <a:off x="490909" y="342528"/>
            <a:ext cx="3861643" cy="36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5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Considerações Finais</a:t>
            </a:r>
            <a:endParaRPr lang="en-US" sz="2250"/>
          </a:p>
        </p:txBody>
      </p:sp>
      <p:sp>
        <p:nvSpPr>
          <p:cNvPr id="1303437130" name="Text 1"/>
          <p:cNvSpPr/>
          <p:nvPr/>
        </p:nvSpPr>
        <p:spPr bwMode="auto">
          <a:xfrm>
            <a:off x="490909" y="991121"/>
            <a:ext cx="2273498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Contribuições Teóricas</a:t>
            </a:r>
            <a:endParaRPr lang="en-US" sz="1100"/>
          </a:p>
        </p:txBody>
      </p:sp>
      <p:sp>
        <p:nvSpPr>
          <p:cNvPr id="1899935625" name="Shape 2"/>
          <p:cNvSpPr/>
          <p:nvPr/>
        </p:nvSpPr>
        <p:spPr bwMode="auto">
          <a:xfrm>
            <a:off x="490909" y="1368475"/>
            <a:ext cx="61317" cy="61317"/>
          </a:xfrm>
          <a:prstGeom prst="roundRect">
            <a:avLst>
              <a:gd name="adj" fmla="val 466021"/>
            </a:avLst>
          </a:prstGeom>
          <a:solidFill>
            <a:srgbClr val="8061FF"/>
          </a:solidFill>
          <a:ln/>
        </p:spPr>
      </p:sp>
      <p:sp>
        <p:nvSpPr>
          <p:cNvPr id="893445916" name="Text 3"/>
          <p:cNvSpPr/>
          <p:nvPr/>
        </p:nvSpPr>
        <p:spPr bwMode="auto">
          <a:xfrm>
            <a:off x="667271" y="1300981"/>
            <a:ext cx="3755008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Atualização do conceito de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contrato psicológico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à luz de fenômenos digitais emergentes</a:t>
            </a:r>
            <a:endParaRPr lang="en-US" sz="950"/>
          </a:p>
        </p:txBody>
      </p:sp>
      <p:sp>
        <p:nvSpPr>
          <p:cNvPr id="580941475" name="Shape 4"/>
          <p:cNvSpPr/>
          <p:nvPr/>
        </p:nvSpPr>
        <p:spPr bwMode="auto">
          <a:xfrm>
            <a:off x="490909" y="1978819"/>
            <a:ext cx="61317" cy="61317"/>
          </a:xfrm>
          <a:prstGeom prst="roundRect">
            <a:avLst>
              <a:gd name="adj" fmla="val 466021"/>
            </a:avLst>
          </a:prstGeom>
          <a:solidFill>
            <a:srgbClr val="8061FF"/>
          </a:solidFill>
          <a:ln/>
        </p:spPr>
      </p:sp>
      <p:sp>
        <p:nvSpPr>
          <p:cNvPr id="1886552250" name="Text 5"/>
          <p:cNvSpPr/>
          <p:nvPr/>
        </p:nvSpPr>
        <p:spPr bwMode="auto">
          <a:xfrm>
            <a:off x="667271" y="1911325"/>
            <a:ext cx="3755008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Articulação entre precarização digital, vigilância algorítmica e resistência geracional</a:t>
            </a:r>
            <a:endParaRPr lang="en-US" sz="950"/>
          </a:p>
        </p:txBody>
      </p:sp>
      <p:sp>
        <p:nvSpPr>
          <p:cNvPr id="362437810" name="Shape 6"/>
          <p:cNvSpPr/>
          <p:nvPr/>
        </p:nvSpPr>
        <p:spPr bwMode="auto">
          <a:xfrm>
            <a:off x="490909" y="2589163"/>
            <a:ext cx="61317" cy="61317"/>
          </a:xfrm>
          <a:prstGeom prst="roundRect">
            <a:avLst>
              <a:gd name="adj" fmla="val 466021"/>
            </a:avLst>
          </a:prstGeom>
          <a:solidFill>
            <a:srgbClr val="8061FF"/>
          </a:solidFill>
          <a:ln/>
        </p:spPr>
      </p:sp>
      <p:sp>
        <p:nvSpPr>
          <p:cNvPr id="516924283" name="Text 7"/>
          <p:cNvSpPr/>
          <p:nvPr/>
        </p:nvSpPr>
        <p:spPr bwMode="auto">
          <a:xfrm>
            <a:off x="667271" y="2521669"/>
            <a:ext cx="3755008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O eixo discursivo deslocou-se da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instrumentalidade econômica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para a dimensão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temporal e existencial</a:t>
            </a:r>
            <a:endParaRPr lang="en-US" sz="950"/>
          </a:p>
        </p:txBody>
      </p:sp>
      <p:sp>
        <p:nvSpPr>
          <p:cNvPr id="777234371" name="Text 8"/>
          <p:cNvSpPr/>
          <p:nvPr/>
        </p:nvSpPr>
        <p:spPr bwMode="auto">
          <a:xfrm>
            <a:off x="490909" y="3031331"/>
            <a:ext cx="2794695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Contribuições Metodológicas</a:t>
            </a:r>
            <a:endParaRPr lang="en-US" sz="1100"/>
          </a:p>
        </p:txBody>
      </p:sp>
      <p:sp>
        <p:nvSpPr>
          <p:cNvPr id="209449217" name="Shape 9"/>
          <p:cNvSpPr/>
          <p:nvPr/>
        </p:nvSpPr>
        <p:spPr bwMode="auto">
          <a:xfrm>
            <a:off x="490909" y="3408685"/>
            <a:ext cx="61317" cy="61317"/>
          </a:xfrm>
          <a:prstGeom prst="roundRect">
            <a:avLst>
              <a:gd name="adj" fmla="val 466021"/>
            </a:avLst>
          </a:prstGeom>
          <a:solidFill>
            <a:srgbClr val="8061FF"/>
          </a:solidFill>
          <a:ln/>
        </p:spPr>
      </p:sp>
      <p:sp>
        <p:nvSpPr>
          <p:cNvPr id="1832113167" name="Text 10"/>
          <p:cNvSpPr/>
          <p:nvPr/>
        </p:nvSpPr>
        <p:spPr bwMode="auto">
          <a:xfrm>
            <a:off x="667271" y="3341191"/>
            <a:ext cx="3755008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Lexicometria para captar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vozes espontâneas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sem mediação de instrumentos estruturados</a:t>
            </a:r>
            <a:endParaRPr lang="en-US" sz="950"/>
          </a:p>
        </p:txBody>
      </p:sp>
      <p:sp>
        <p:nvSpPr>
          <p:cNvPr id="621449690" name="Shape 11"/>
          <p:cNvSpPr/>
          <p:nvPr/>
        </p:nvSpPr>
        <p:spPr bwMode="auto">
          <a:xfrm>
            <a:off x="490909" y="4019029"/>
            <a:ext cx="61317" cy="61317"/>
          </a:xfrm>
          <a:prstGeom prst="roundRect">
            <a:avLst>
              <a:gd name="adj" fmla="val 466021"/>
            </a:avLst>
          </a:prstGeom>
          <a:solidFill>
            <a:srgbClr val="8061FF"/>
          </a:solidFill>
          <a:ln/>
        </p:spPr>
      </p:sp>
      <p:sp>
        <p:nvSpPr>
          <p:cNvPr id="1495581187" name="Text 12"/>
          <p:cNvSpPr/>
          <p:nvPr/>
        </p:nvSpPr>
        <p:spPr bwMode="auto">
          <a:xfrm>
            <a:off x="667271" y="3951536"/>
            <a:ext cx="3755008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Combinação CHD + AFC permitiu cartografia semântica e diferenciação de universos discursivos</a:t>
            </a:r>
            <a:endParaRPr lang="en-US" sz="950"/>
          </a:p>
        </p:txBody>
      </p:sp>
      <p:sp>
        <p:nvSpPr>
          <p:cNvPr id="1504452151" name="Shape 13"/>
          <p:cNvSpPr/>
          <p:nvPr/>
        </p:nvSpPr>
        <p:spPr bwMode="auto">
          <a:xfrm>
            <a:off x="4638080" y="876077"/>
            <a:ext cx="4108177" cy="3924821"/>
          </a:xfrm>
          <a:prstGeom prst="roundRect">
            <a:avLst>
              <a:gd name="adj" fmla="val 469"/>
            </a:avLst>
          </a:prstGeom>
          <a:solidFill>
            <a:srgbClr val="8061FF"/>
          </a:solidFill>
          <a:ln/>
        </p:spPr>
      </p:sp>
      <p:sp>
        <p:nvSpPr>
          <p:cNvPr id="1686860386" name="Text 14"/>
          <p:cNvSpPr/>
          <p:nvPr/>
        </p:nvSpPr>
        <p:spPr bwMode="auto">
          <a:xfrm>
            <a:off x="4760788" y="991121"/>
            <a:ext cx="2961084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Agenda para Pesquisas Futuras</a:t>
            </a:r>
            <a:endParaRPr lang="en-US" sz="1100"/>
          </a:p>
        </p:txBody>
      </p:sp>
      <p:sp>
        <p:nvSpPr>
          <p:cNvPr id="100760704" name="Text 15"/>
          <p:cNvSpPr/>
          <p:nvPr/>
        </p:nvSpPr>
        <p:spPr bwMode="auto">
          <a:xfrm>
            <a:off x="4760788" y="1300981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Syne Light"/>
                <a:ea typeface="Syne Light"/>
                <a:cs typeface="Syne Light"/>
              </a:rPr>
              <a:t>01</a:t>
            </a:r>
            <a:endParaRPr lang="en-US" sz="950"/>
          </a:p>
        </p:txBody>
      </p:sp>
      <p:sp>
        <p:nvSpPr>
          <p:cNvPr id="866279930" name="Shape 16"/>
          <p:cNvSpPr/>
          <p:nvPr/>
        </p:nvSpPr>
        <p:spPr bwMode="auto">
          <a:xfrm>
            <a:off x="4760788" y="1495202"/>
            <a:ext cx="386275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66084563" name="Text 17"/>
          <p:cNvSpPr/>
          <p:nvPr/>
        </p:nvSpPr>
        <p:spPr bwMode="auto">
          <a:xfrm>
            <a:off x="4760788" y="1585094"/>
            <a:ext cx="3862759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Arimo"/>
                <a:ea typeface="Arimo"/>
                <a:cs typeface="Arimo"/>
              </a:rPr>
              <a:t>Ampliação do corpus com web scraping (Python) e escalabilidade analítica</a:t>
            </a:r>
            <a:endParaRPr lang="en-US" sz="950"/>
          </a:p>
        </p:txBody>
      </p:sp>
      <p:sp>
        <p:nvSpPr>
          <p:cNvPr id="784260416" name="Text 18"/>
          <p:cNvSpPr/>
          <p:nvPr/>
        </p:nvSpPr>
        <p:spPr bwMode="auto">
          <a:xfrm>
            <a:off x="4760788" y="2172370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Syne Light"/>
                <a:ea typeface="Syne Light"/>
                <a:cs typeface="Syne Light"/>
              </a:rPr>
              <a:t>02</a:t>
            </a:r>
            <a:endParaRPr lang="en-US" sz="950"/>
          </a:p>
        </p:txBody>
      </p:sp>
      <p:sp>
        <p:nvSpPr>
          <p:cNvPr id="20720808" name="Shape 19"/>
          <p:cNvSpPr/>
          <p:nvPr/>
        </p:nvSpPr>
        <p:spPr bwMode="auto">
          <a:xfrm>
            <a:off x="4760788" y="2366590"/>
            <a:ext cx="386275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505468635" name="Text 20"/>
          <p:cNvSpPr/>
          <p:nvPr/>
        </p:nvSpPr>
        <p:spPr bwMode="auto">
          <a:xfrm>
            <a:off x="4760788" y="2456483"/>
            <a:ext cx="3862759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Arimo"/>
                <a:ea typeface="Arimo"/>
                <a:cs typeface="Arimo"/>
              </a:rPr>
              <a:t>Estudos quantitativos correlacionando violação do contrato psicológico e quiet quitting</a:t>
            </a:r>
            <a:endParaRPr lang="en-US" sz="950"/>
          </a:p>
        </p:txBody>
      </p:sp>
      <p:sp>
        <p:nvSpPr>
          <p:cNvPr id="1816685684" name="Text 21"/>
          <p:cNvSpPr/>
          <p:nvPr/>
        </p:nvSpPr>
        <p:spPr bwMode="auto">
          <a:xfrm>
            <a:off x="4760788" y="3043758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Syne Light"/>
                <a:ea typeface="Syne Light"/>
                <a:cs typeface="Syne Light"/>
              </a:rPr>
              <a:t>03</a:t>
            </a:r>
            <a:endParaRPr lang="en-US" sz="950"/>
          </a:p>
        </p:txBody>
      </p:sp>
      <p:sp>
        <p:nvSpPr>
          <p:cNvPr id="1464328377" name="Shape 22"/>
          <p:cNvSpPr/>
          <p:nvPr/>
        </p:nvSpPr>
        <p:spPr bwMode="auto">
          <a:xfrm>
            <a:off x="4760788" y="3237978"/>
            <a:ext cx="386275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797974203" name="Text 23"/>
          <p:cNvSpPr/>
          <p:nvPr/>
        </p:nvSpPr>
        <p:spPr bwMode="auto">
          <a:xfrm>
            <a:off x="4760788" y="3327870"/>
            <a:ext cx="3862759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Arimo"/>
                <a:ea typeface="Arimo"/>
                <a:cs typeface="Arimo"/>
              </a:rPr>
              <a:t>Pesquisas comparativas intergeracionais com mesmo design lexicométrico</a:t>
            </a:r>
            <a:endParaRPr lang="en-US" sz="950"/>
          </a:p>
        </p:txBody>
      </p:sp>
      <p:sp>
        <p:nvSpPr>
          <p:cNvPr id="1469896685" name="Text 24"/>
          <p:cNvSpPr/>
          <p:nvPr/>
        </p:nvSpPr>
        <p:spPr bwMode="auto">
          <a:xfrm>
            <a:off x="4760788" y="3915146"/>
            <a:ext cx="245418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Syne Light"/>
                <a:ea typeface="Syne Light"/>
                <a:cs typeface="Syne Light"/>
              </a:rPr>
              <a:t>04</a:t>
            </a:r>
            <a:endParaRPr lang="en-US" sz="950"/>
          </a:p>
        </p:txBody>
      </p:sp>
      <p:sp>
        <p:nvSpPr>
          <p:cNvPr id="1549004386" name="Shape 25"/>
          <p:cNvSpPr/>
          <p:nvPr/>
        </p:nvSpPr>
        <p:spPr bwMode="auto">
          <a:xfrm>
            <a:off x="4760788" y="4109368"/>
            <a:ext cx="3862759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714932883" name="Text 26"/>
          <p:cNvSpPr/>
          <p:nvPr/>
        </p:nvSpPr>
        <p:spPr bwMode="auto">
          <a:xfrm>
            <a:off x="4760788" y="4199260"/>
            <a:ext cx="3862759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950">
                <a:solidFill>
                  <a:srgbClr val="000000"/>
                </a:solidFill>
                <a:latin typeface="Arimo"/>
                <a:ea typeface="Arimo"/>
                <a:cs typeface="Arimo"/>
              </a:rPr>
              <a:t>Investigação das respostas organizacionais efetivas e seus impactos na retenção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995334" name="Shape 0"/>
          <p:cNvSpPr/>
          <p:nvPr/>
        </p:nvSpPr>
        <p:spPr bwMode="auto">
          <a:xfrm>
            <a:off x="0" y="0"/>
            <a:ext cx="3429000" cy="5143500"/>
          </a:xfrm>
          <a:prstGeom prst="rect">
            <a:avLst/>
          </a:prstGeom>
          <a:solidFill>
            <a:srgbClr val="2B2952"/>
          </a:solidFill>
          <a:ln/>
        </p:spPr>
      </p:sp>
      <p:pic>
        <p:nvPicPr>
          <p:cNvPr id="184282683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275" y="366117"/>
            <a:ext cx="3308449" cy="4411266"/>
          </a:xfrm>
          <a:prstGeom prst="rect">
            <a:avLst/>
          </a:prstGeom>
        </p:spPr>
      </p:pic>
      <p:sp>
        <p:nvSpPr>
          <p:cNvPr id="49053953" name="Text 1"/>
          <p:cNvSpPr/>
          <p:nvPr/>
        </p:nvSpPr>
        <p:spPr bwMode="auto">
          <a:xfrm>
            <a:off x="4092699" y="478036"/>
            <a:ext cx="4568577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"A Geração Z não está abandonando o trabalho. Está renegociando os termos para que o trabalho não abandone a vida."</a:t>
            </a:r>
            <a:endParaRPr lang="en-US" sz="950"/>
          </a:p>
        </p:txBody>
      </p:sp>
      <p:sp>
        <p:nvSpPr>
          <p:cNvPr id="1931450288" name="Shape 2"/>
          <p:cNvSpPr/>
          <p:nvPr/>
        </p:nvSpPr>
        <p:spPr bwMode="auto">
          <a:xfrm>
            <a:off x="3911724" y="352946"/>
            <a:ext cx="14288" cy="621209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449656734" name="Text 3"/>
          <p:cNvSpPr/>
          <p:nvPr/>
        </p:nvSpPr>
        <p:spPr bwMode="auto">
          <a:xfrm>
            <a:off x="3911724" y="1140991"/>
            <a:ext cx="4678933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Syne Bold"/>
                <a:ea typeface="Syne Bold"/>
                <a:cs typeface="Syne Bold"/>
              </a:rPr>
              <a:t>Agradecimentos e Contato</a:t>
            </a:r>
            <a:endParaRPr lang="en-US" sz="2200"/>
          </a:p>
        </p:txBody>
      </p:sp>
      <p:sp>
        <p:nvSpPr>
          <p:cNvPr id="661009577" name="Text 4"/>
          <p:cNvSpPr/>
          <p:nvPr/>
        </p:nvSpPr>
        <p:spPr bwMode="auto">
          <a:xfrm>
            <a:off x="3911724" y="1662782"/>
            <a:ext cx="4749552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Esta pesquisa foi desenvolvida no âmbito do Eixo Temático de </a:t>
            </a:r>
            <a:r>
              <a:rPr lang="en-US" sz="950" b="1">
                <a:solidFill>
                  <a:srgbClr val="D9E1FF"/>
                </a:solidFill>
                <a:latin typeface="Arimo"/>
                <a:ea typeface="Arimo"/>
                <a:cs typeface="Arimo"/>
              </a:rPr>
              <a:t>Gestão de Pessoas e Processos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. Agradecemos a todos os participantes cujos relatos espontâneos tornaram esta análise possível.</a:t>
            </a:r>
            <a:endParaRPr lang="en-US" sz="950"/>
          </a:p>
        </p:txBody>
      </p:sp>
      <p:sp>
        <p:nvSpPr>
          <p:cNvPr id="1898992023" name="Shape 5"/>
          <p:cNvSpPr/>
          <p:nvPr/>
        </p:nvSpPr>
        <p:spPr bwMode="auto">
          <a:xfrm>
            <a:off x="3911724" y="2344415"/>
            <a:ext cx="4749552" cy="675754"/>
          </a:xfrm>
          <a:prstGeom prst="roundRect">
            <a:avLst>
              <a:gd name="adj" fmla="val 2679"/>
            </a:avLst>
          </a:prstGeom>
          <a:solidFill>
            <a:srgbClr val="2B2952"/>
          </a:solidFill>
          <a:ln/>
        </p:spPr>
      </p:sp>
      <p:sp>
        <p:nvSpPr>
          <p:cNvPr id="1484121440" name="Text 6"/>
          <p:cNvSpPr/>
          <p:nvPr/>
        </p:nvSpPr>
        <p:spPr bwMode="auto">
          <a:xfrm>
            <a:off x="4032349" y="2465040"/>
            <a:ext cx="1419746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📧</a:t>
            </a: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Contato</a:t>
            </a:r>
            <a:endParaRPr lang="en-US" sz="1100"/>
          </a:p>
        </p:txBody>
      </p:sp>
      <p:sp>
        <p:nvSpPr>
          <p:cNvPr id="1450922930" name="Text 7"/>
          <p:cNvSpPr/>
          <p:nvPr/>
        </p:nvSpPr>
        <p:spPr bwMode="auto">
          <a:xfrm>
            <a:off x="4032349" y="2714030"/>
            <a:ext cx="4508302" cy="18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 u="sng">
                <a:solidFill>
                  <a:srgbClr val="8061FF"/>
                </a:solidFill>
                <a:latin typeface="Arimo"/>
                <a:ea typeface="Arimo"/>
                <a:cs typeface="Arimo"/>
                <a:hlinkClick r:id="rId4" tooltip=""/>
              </a:rPr>
              <a:t>gestor.renatorosa@gmail.com</a:t>
            </a: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 - Fucape</a:t>
            </a:r>
            <a:endParaRPr lang="en-US" sz="950"/>
          </a:p>
        </p:txBody>
      </p:sp>
      <p:sp>
        <p:nvSpPr>
          <p:cNvPr id="1475768838" name="Shape 8"/>
          <p:cNvSpPr/>
          <p:nvPr/>
        </p:nvSpPr>
        <p:spPr bwMode="auto">
          <a:xfrm>
            <a:off x="3911724" y="3131418"/>
            <a:ext cx="4749552" cy="861268"/>
          </a:xfrm>
          <a:prstGeom prst="roundRect">
            <a:avLst>
              <a:gd name="adj" fmla="val 2102"/>
            </a:avLst>
          </a:prstGeom>
          <a:solidFill>
            <a:srgbClr val="2B2952"/>
          </a:solidFill>
          <a:ln/>
        </p:spPr>
      </p:sp>
      <p:sp>
        <p:nvSpPr>
          <p:cNvPr id="1908907554" name="Text 9"/>
          <p:cNvSpPr/>
          <p:nvPr/>
        </p:nvSpPr>
        <p:spPr bwMode="auto">
          <a:xfrm>
            <a:off x="4032349" y="3252043"/>
            <a:ext cx="1443558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000000"/>
                </a:solidFill>
                <a:latin typeface="Syne Bold"/>
                <a:ea typeface="Syne Bold"/>
                <a:cs typeface="Syne Bold"/>
              </a:rPr>
              <a:t>🔑</a:t>
            </a:r>
            <a:r>
              <a:rPr lang="en-US" sz="1100" b="1">
                <a:solidFill>
                  <a:srgbClr val="D9E1FF"/>
                </a:solidFill>
                <a:latin typeface="Syne Bold"/>
                <a:ea typeface="Syne Bold"/>
                <a:cs typeface="Syne Bold"/>
              </a:rPr>
              <a:t> Palavras-chave</a:t>
            </a:r>
            <a:endParaRPr lang="en-US" sz="1100"/>
          </a:p>
        </p:txBody>
      </p:sp>
      <p:sp>
        <p:nvSpPr>
          <p:cNvPr id="308235400" name="Text 10"/>
          <p:cNvSpPr/>
          <p:nvPr/>
        </p:nvSpPr>
        <p:spPr bwMode="auto">
          <a:xfrm>
            <a:off x="4032349" y="3501033"/>
            <a:ext cx="4508302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D9E1FF"/>
                </a:solidFill>
                <a:latin typeface="Arimo"/>
                <a:ea typeface="Arimo"/>
                <a:cs typeface="Arimo"/>
              </a:rPr>
              <a:t>Geração Z · Contrato Psicológico · Microaposentadorias · Quiet Quitting · Lexicometria</a:t>
            </a:r>
            <a:endParaRPr lang="en-US" sz="950"/>
          </a:p>
        </p:txBody>
      </p:sp>
      <p:sp>
        <p:nvSpPr>
          <p:cNvPr id="1567441561" name="Shape 11"/>
          <p:cNvSpPr/>
          <p:nvPr/>
        </p:nvSpPr>
        <p:spPr bwMode="auto">
          <a:xfrm>
            <a:off x="3911724" y="4117777"/>
            <a:ext cx="4749552" cy="672778"/>
          </a:xfrm>
          <a:prstGeom prst="roundRect">
            <a:avLst>
              <a:gd name="adj" fmla="val 2691"/>
            </a:avLst>
          </a:prstGeom>
          <a:solidFill>
            <a:srgbClr val="0F004D"/>
          </a:solidFill>
          <a:ln/>
        </p:spPr>
      </p:sp>
      <p:pic>
        <p:nvPicPr>
          <p:cNvPr id="1293245796" name="Image 1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032349" y="4296296"/>
            <a:ext cx="150837" cy="120625"/>
          </a:xfrm>
          <a:prstGeom prst="rect">
            <a:avLst/>
          </a:prstGeom>
        </p:spPr>
      </p:pic>
      <p:sp>
        <p:nvSpPr>
          <p:cNvPr id="1583841574" name="Text 12"/>
          <p:cNvSpPr/>
          <p:nvPr/>
        </p:nvSpPr>
        <p:spPr bwMode="auto">
          <a:xfrm>
            <a:off x="4303812" y="4259163"/>
            <a:ext cx="4236839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Arimo"/>
                <a:ea typeface="Arimo"/>
                <a:cs typeface="Arimo"/>
              </a:rPr>
              <a:t>"Compreender o léxico da nova geração é o primeiro passo para redesenhar a gestão de pessoas no século XXI."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2026-05-23T03:18:38Z</dcterms:created>
  <dcterms:modified xsi:type="dcterms:W3CDTF">2026-05-23T03:20:48Z</dcterms:modified>
</cp:coreProperties>
</file>