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defPPr>
      <a:defRPr lang="pt-B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7662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85585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7773741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90622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201871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68419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346199" name="Google Shape;85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335437" name="Google Shape;86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090963466" name="Google Shape;87;p1:notes"/>
          <p:cNvSpPr txBox="1"/>
          <p:nvPr>
            <p:ph type="sldNum" idx="12"/>
          </p:nvPr>
        </p:nvSpPr>
        <p:spPr bwMode="auto">
          <a:xfrm>
            <a:off x="3884612" y="8685212"/>
            <a:ext cx="2971800" cy="45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FA034C91-BEAE-86B5-3EF0-67B319B55358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12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309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208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34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121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8935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822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889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0535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392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8770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1836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82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665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800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52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66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7170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360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343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180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454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56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0305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454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819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0939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503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467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632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759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820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069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74896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33171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69839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67243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15418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34435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90099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08359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24945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36673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6791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69108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media1.svg"/><Relationship Id="rId6" Type="http://schemas.openxmlformats.org/officeDocument/2006/relationships/image" Target="../media/image6.png"/><Relationship Id="rId7" Type="http://schemas.openxmlformats.org/officeDocument/2006/relationships/image" Target="../media/media2.svg"/><Relationship Id="rId8" Type="http://schemas.openxmlformats.org/officeDocument/2006/relationships/image" Target="../media/image7.png"/><Relationship Id="rId9" Type="http://schemas.openxmlformats.org/officeDocument/2006/relationships/image" Target="../media/media3.svg"/><Relationship Id="rId10" Type="http://schemas.openxmlformats.org/officeDocument/2006/relationships/image" Target="../media/image8.png"/><Relationship Id="rId11" Type="http://schemas.openxmlformats.org/officeDocument/2006/relationships/image" Target="../media/media4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media5.svg"/><Relationship Id="rId5" Type="http://schemas.openxmlformats.org/officeDocument/2006/relationships/image" Target="../media/image11.png"/><Relationship Id="rId6" Type="http://schemas.openxmlformats.org/officeDocument/2006/relationships/image" Target="../media/media6.svg"/><Relationship Id="rId7" Type="http://schemas.openxmlformats.org/officeDocument/2006/relationships/image" Target="../media/image12.png"/><Relationship Id="rId8" Type="http://schemas.openxmlformats.org/officeDocument/2006/relationships/image" Target="../media/media7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hyperlink" Target="mailto:gestor.renatoros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768634" name="Google Shape;89;p1"/>
          <p:cNvSpPr/>
          <p:nvPr/>
        </p:nvSpPr>
        <p:spPr bwMode="auto">
          <a:xfrm>
            <a:off x="0" y="1200150"/>
            <a:ext cx="9144000" cy="4021875"/>
          </a:xfrm>
          <a:prstGeom prst="rect">
            <a:avLst/>
          </a:prstGeom>
          <a:solidFill>
            <a:srgbClr val="3E4095"/>
          </a:solidFill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4596375" name="Google Shape;90;p1"/>
          <p:cNvSpPr txBox="1"/>
          <p:nvPr>
            <p:ph type="ctrTitle"/>
          </p:nvPr>
        </p:nvSpPr>
        <p:spPr bwMode="auto">
          <a:xfrm flipH="0" flipV="0">
            <a:off x="284793" y="1504119"/>
            <a:ext cx="8604655" cy="141764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CARGA COGNITIVA, FINANÇAS COMPORTAMENTAIS E </a:t>
            </a:r>
            <a:endParaRPr lang="pt-BR" sz="2400" b="1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pt-BR" sz="2400" b="1" i="0" u="none" strike="noStrike" cap="none" spc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INTELIGÊNCIA ARTIFICIAL NO APOIO À SELEÇÃO DE AÇÕES DE </a:t>
            </a:r>
            <a:endParaRPr lang="pt-BR" sz="2400" b="1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/>
            </a:pPr>
            <a:r>
              <a:rPr lang="pt-BR" sz="2400" b="1" i="0" u="none" strike="noStrike" cap="none" spc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DIVIDENDOS: Proposição Arquitetural da Carteira Inteligente IA</a:t>
            </a:r>
            <a:endParaRPr sz="2600"/>
          </a:p>
        </p:txBody>
      </p:sp>
      <p:sp>
        <p:nvSpPr>
          <p:cNvPr id="1167661721" name="Google Shape;91;p1"/>
          <p:cNvSpPr txBox="1"/>
          <p:nvPr>
            <p:ph type="subTitle" idx="1"/>
          </p:nvPr>
        </p:nvSpPr>
        <p:spPr bwMode="auto">
          <a:xfrm flipH="0" flipV="0">
            <a:off x="4628643" y="2765774"/>
            <a:ext cx="4217005" cy="87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endParaRPr/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r>
              <a:rPr lang="pt-BR" sz="2200" b="1">
                <a:solidFill>
                  <a:schemeClr val="lt1"/>
                </a:solidFill>
              </a:rPr>
              <a:t>Renato de Oliveira Rosa</a:t>
            </a:r>
            <a:r>
              <a:rPr lang="pt-BR" sz="2200" b="1">
                <a:solidFill>
                  <a:schemeClr val="lt1"/>
                </a:solidFill>
              </a:rPr>
              <a:t> – Fucape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endParaRPr sz="2200" b="1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pPr>
            <a:endParaRPr sz="2200" b="1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pPr>
            <a:endParaRPr sz="2200"/>
          </a:p>
        </p:txBody>
      </p:sp>
      <p:sp>
        <p:nvSpPr>
          <p:cNvPr id="1334421800" name="Google Shape;92;p1"/>
          <p:cNvSpPr/>
          <p:nvPr/>
        </p:nvSpPr>
        <p:spPr bwMode="auto">
          <a:xfrm>
            <a:off x="0" y="4014787"/>
            <a:ext cx="9144000" cy="12001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61166398" name="Google Shape;93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9140162" cy="1200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1111887" name="Google Shape;94;p1" title="Eigedin 2026 (8).png"/>
          <p:cNvPicPr/>
          <p:nvPr/>
        </p:nvPicPr>
        <p:blipFill rotWithShape="1">
          <a:blip r:embed="rId4">
            <a:alphaModFix/>
          </a:blip>
          <a:srcRect l="0" t="86968" r="0" b="2019"/>
          <a:stretch/>
        </p:blipFill>
        <p:spPr bwMode="auto">
          <a:xfrm>
            <a:off x="278793" y="4119543"/>
            <a:ext cx="8616656" cy="94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869457" name="Shape 0"/>
          <p:cNvSpPr/>
          <p:nvPr/>
        </p:nvSpPr>
        <p:spPr bwMode="auto">
          <a:xfrm>
            <a:off x="571500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207653895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76317" y="367531"/>
            <a:ext cx="3306291" cy="4408438"/>
          </a:xfrm>
          <a:prstGeom prst="rect">
            <a:avLst/>
          </a:prstGeom>
        </p:spPr>
      </p:pic>
      <p:sp>
        <p:nvSpPr>
          <p:cNvPr id="534925636" name="Text 1"/>
          <p:cNvSpPr/>
          <p:nvPr/>
        </p:nvSpPr>
        <p:spPr bwMode="auto">
          <a:xfrm>
            <a:off x="490909" y="431155"/>
            <a:ext cx="4733181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Introdução: O Contexto do Problema</a:t>
            </a:r>
            <a:endParaRPr lang="en-US" sz="2250"/>
          </a:p>
        </p:txBody>
      </p:sp>
      <p:sp>
        <p:nvSpPr>
          <p:cNvPr id="1963934276" name="Shape 2"/>
          <p:cNvSpPr/>
          <p:nvPr/>
        </p:nvSpPr>
        <p:spPr bwMode="auto">
          <a:xfrm>
            <a:off x="402506" y="1325687"/>
            <a:ext cx="2393677" cy="3386584"/>
          </a:xfrm>
          <a:prstGeom prst="roundRect">
            <a:avLst>
              <a:gd name="adj" fmla="val 769"/>
            </a:avLst>
          </a:prstGeom>
          <a:solidFill>
            <a:srgbClr val="3371A5"/>
          </a:solidFill>
          <a:ln/>
        </p:spPr>
      </p:sp>
      <p:sp>
        <p:nvSpPr>
          <p:cNvPr id="71957108" name="Text 3"/>
          <p:cNvSpPr/>
          <p:nvPr/>
        </p:nvSpPr>
        <p:spPr bwMode="auto">
          <a:xfrm>
            <a:off x="525214" y="1440730"/>
            <a:ext cx="2264271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Expansão do Mercado</a:t>
            </a:r>
            <a:endParaRPr lang="en-US" sz="1100"/>
          </a:p>
        </p:txBody>
      </p:sp>
      <p:sp>
        <p:nvSpPr>
          <p:cNvPr id="1462555494" name="Text 4"/>
          <p:cNvSpPr/>
          <p:nvPr/>
        </p:nvSpPr>
        <p:spPr bwMode="auto">
          <a:xfrm>
            <a:off x="525214" y="1736229"/>
            <a:ext cx="2148260" cy="133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Investidores pessoa física na B3 saltaram de </a:t>
            </a:r>
            <a:r>
              <a:rPr lang="en-US" sz="9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menos de 1 milhão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 em 2018 para </a:t>
            </a:r>
            <a:r>
              <a:rPr lang="en-US" sz="9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dezenas de milhões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 em 2024–2025. A democratização do acesso operacional, no entanto, </a:t>
            </a:r>
            <a:r>
              <a:rPr lang="en-US" sz="9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não equivale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 à democratização do conhecimento técnico.</a:t>
            </a:r>
            <a:endParaRPr lang="en-US" sz="950"/>
          </a:p>
        </p:txBody>
      </p:sp>
      <p:sp>
        <p:nvSpPr>
          <p:cNvPr id="1329556199" name="Text 5"/>
          <p:cNvSpPr/>
          <p:nvPr/>
        </p:nvSpPr>
        <p:spPr bwMode="auto">
          <a:xfrm>
            <a:off x="3011984" y="1440730"/>
            <a:ext cx="2033290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 Problema Central</a:t>
            </a:r>
            <a:endParaRPr lang="en-US" sz="1100"/>
          </a:p>
        </p:txBody>
      </p:sp>
      <p:sp>
        <p:nvSpPr>
          <p:cNvPr id="2084094156" name="Text 6"/>
          <p:cNvSpPr/>
          <p:nvPr/>
        </p:nvSpPr>
        <p:spPr bwMode="auto">
          <a:xfrm>
            <a:off x="3011984" y="1736229"/>
            <a:ext cx="2216869" cy="133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Assimetria informacional e limitação técnica tornam difícil a interpretação de dados contábeis e financeiros. Dashboards tradicionais impõem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elevada carga cognitiva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: múltiplos indicadores, telas fragmentadas e filtros complexos sobrecarregam o investidor.</a:t>
            </a:r>
            <a:endParaRPr lang="en-US" sz="950"/>
          </a:p>
        </p:txBody>
      </p:sp>
      <p:sp>
        <p:nvSpPr>
          <p:cNvPr id="603705617" name="Text 7"/>
          <p:cNvSpPr/>
          <p:nvPr/>
        </p:nvSpPr>
        <p:spPr bwMode="auto">
          <a:xfrm>
            <a:off x="3011984" y="3182169"/>
            <a:ext cx="2216869" cy="36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Consequências Comportamentais</a:t>
            </a:r>
            <a:endParaRPr lang="en-US" sz="1100"/>
          </a:p>
        </p:txBody>
      </p:sp>
      <p:sp>
        <p:nvSpPr>
          <p:cNvPr id="1672185068" name="Text 8"/>
          <p:cNvSpPr/>
          <p:nvPr/>
        </p:nvSpPr>
        <p:spPr bwMode="auto">
          <a:xfrm>
            <a:off x="3011984" y="3658121"/>
            <a:ext cx="2216869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Sobrecarga cognitiva gera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fadiga decisória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e amplifica vieses como ancoragem, disponibilidade e excesso de confiança — comprometendo a qualidade das decisões de investimento.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808274" name="Text 0"/>
          <p:cNvSpPr/>
          <p:nvPr/>
        </p:nvSpPr>
        <p:spPr bwMode="auto">
          <a:xfrm>
            <a:off x="523577" y="741834"/>
            <a:ext cx="419330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Objetivos da Pesquisa</a:t>
            </a:r>
            <a:endParaRPr lang="en-US" sz="2400"/>
          </a:p>
        </p:txBody>
      </p:sp>
      <p:sp>
        <p:nvSpPr>
          <p:cNvPr id="1869493403" name="Text 1"/>
          <p:cNvSpPr/>
          <p:nvPr/>
        </p:nvSpPr>
        <p:spPr bwMode="auto">
          <a:xfrm>
            <a:off x="523577" y="1453976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 Geral</a:t>
            </a:r>
            <a:endParaRPr lang="en-US" sz="1200"/>
          </a:p>
        </p:txBody>
      </p:sp>
      <p:sp>
        <p:nvSpPr>
          <p:cNvPr id="834387835" name="Text 2"/>
          <p:cNvSpPr/>
          <p:nvPr/>
        </p:nvSpPr>
        <p:spPr bwMode="auto">
          <a:xfrm>
            <a:off x="523577" y="1777380"/>
            <a:ext cx="3047107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Propor 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arquitetura conceitual da Carteira Inteligente IA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— artefato de apoio à seleção de ações pagadoras de dividendos por meio de interação em linguagem natural e integração com APIs financeiras.</a:t>
            </a:r>
            <a:endParaRPr lang="en-US" sz="1000"/>
          </a:p>
        </p:txBody>
      </p:sp>
      <p:sp>
        <p:nvSpPr>
          <p:cNvPr id="2067721212" name="Shape 3"/>
          <p:cNvSpPr/>
          <p:nvPr/>
        </p:nvSpPr>
        <p:spPr bwMode="auto">
          <a:xfrm>
            <a:off x="523577" y="2971651"/>
            <a:ext cx="3047107" cy="974973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85839728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4471" y="3168253"/>
            <a:ext cx="163637" cy="130894"/>
          </a:xfrm>
          <a:prstGeom prst="rect">
            <a:avLst/>
          </a:prstGeom>
        </p:spPr>
      </p:pic>
      <p:sp>
        <p:nvSpPr>
          <p:cNvPr id="861048064" name="Text 4"/>
          <p:cNvSpPr/>
          <p:nvPr/>
        </p:nvSpPr>
        <p:spPr bwMode="auto">
          <a:xfrm>
            <a:off x="949003" y="3135213"/>
            <a:ext cx="2490788" cy="6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O artefato atua como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mediação cognitiva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, reduzindo o ruído visual sem transferir a decisão final ao sistema.</a:t>
            </a:r>
            <a:endParaRPr lang="en-US" sz="1000"/>
          </a:p>
        </p:txBody>
      </p:sp>
      <p:sp>
        <p:nvSpPr>
          <p:cNvPr id="261211287" name="Text 5"/>
          <p:cNvSpPr/>
          <p:nvPr/>
        </p:nvSpPr>
        <p:spPr bwMode="auto">
          <a:xfrm>
            <a:off x="3894832" y="1453976"/>
            <a:ext cx="22675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Objetivos Específicos</a:t>
            </a:r>
            <a:endParaRPr lang="en-US" sz="1200"/>
          </a:p>
        </p:txBody>
      </p:sp>
      <p:pic>
        <p:nvPicPr>
          <p:cNvPr id="1983696963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3943945" y="1800299"/>
            <a:ext cx="196303" cy="196303"/>
          </a:xfrm>
          <a:prstGeom prst="rect">
            <a:avLst/>
          </a:prstGeom>
        </p:spPr>
      </p:pic>
      <p:sp>
        <p:nvSpPr>
          <p:cNvPr id="1378542413" name="Text 6"/>
          <p:cNvSpPr/>
          <p:nvPr/>
        </p:nvSpPr>
        <p:spPr bwMode="auto">
          <a:xfrm>
            <a:off x="4320257" y="1793751"/>
            <a:ext cx="4304928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Analisar como 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sobrecarga cognitiva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impacta a decisão do investidor pessoa física</a:t>
            </a:r>
            <a:endParaRPr lang="en-US" sz="1000"/>
          </a:p>
        </p:txBody>
      </p:sp>
      <p:pic>
        <p:nvPicPr>
          <p:cNvPr id="354613292" name="Image 2" descr="preencoded.png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3943945" y="2480890"/>
            <a:ext cx="196303" cy="196303"/>
          </a:xfrm>
          <a:prstGeom prst="rect">
            <a:avLst/>
          </a:prstGeom>
        </p:spPr>
      </p:pic>
      <p:sp>
        <p:nvSpPr>
          <p:cNvPr id="88935185" name="Text 7"/>
          <p:cNvSpPr/>
          <p:nvPr/>
        </p:nvSpPr>
        <p:spPr bwMode="auto">
          <a:xfrm>
            <a:off x="4320257" y="2474342"/>
            <a:ext cx="4304928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Articular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Teoria da Carga Cognitiva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, Finanças Comportamentais e sistemas conversacionais (LLMs)</a:t>
            </a:r>
            <a:endParaRPr lang="en-US" sz="1000"/>
          </a:p>
        </p:txBody>
      </p:sp>
      <p:pic>
        <p:nvPicPr>
          <p:cNvPr id="1991693235" name="Image 3" descr="preencoded.png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3943945" y="3161481"/>
            <a:ext cx="196303" cy="196303"/>
          </a:xfrm>
          <a:prstGeom prst="rect">
            <a:avLst/>
          </a:prstGeom>
        </p:spPr>
      </p:pic>
      <p:sp>
        <p:nvSpPr>
          <p:cNvPr id="1339945121" name="Text 8"/>
          <p:cNvSpPr/>
          <p:nvPr/>
        </p:nvSpPr>
        <p:spPr bwMode="auto">
          <a:xfrm>
            <a:off x="4320257" y="3154933"/>
            <a:ext cx="4304928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Delinear modelo capaz de consumir dados externos (Yahoo Finance via RapidAPI) e processar indicadores como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payout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e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dividend yield</a:t>
            </a:r>
            <a:endParaRPr lang="en-US" sz="1000"/>
          </a:p>
        </p:txBody>
      </p:sp>
      <p:pic>
        <p:nvPicPr>
          <p:cNvPr id="1292269125" name="Image 4" descr="preencoded.png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>
            <a:off x="3943945" y="3842072"/>
            <a:ext cx="196303" cy="196303"/>
          </a:xfrm>
          <a:prstGeom prst="rect">
            <a:avLst/>
          </a:prstGeom>
        </p:spPr>
      </p:pic>
      <p:sp>
        <p:nvSpPr>
          <p:cNvPr id="1882210608" name="Text 9"/>
          <p:cNvSpPr/>
          <p:nvPr/>
        </p:nvSpPr>
        <p:spPr bwMode="auto">
          <a:xfrm>
            <a:off x="4320257" y="3835524"/>
            <a:ext cx="4304928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Devolver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relatórios estruturados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em linguagem acessível ao investidor não especialista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194869" name="Text 0"/>
          <p:cNvSpPr/>
          <p:nvPr/>
        </p:nvSpPr>
        <p:spPr bwMode="auto">
          <a:xfrm>
            <a:off x="482724" y="340296"/>
            <a:ext cx="3296766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Metodologia</a:t>
            </a:r>
            <a:endParaRPr lang="en-US" sz="2200"/>
          </a:p>
        </p:txBody>
      </p:sp>
      <p:sp>
        <p:nvSpPr>
          <p:cNvPr id="847710899" name="Text 1"/>
          <p:cNvSpPr/>
          <p:nvPr/>
        </p:nvSpPr>
        <p:spPr bwMode="auto">
          <a:xfrm>
            <a:off x="482724" y="917748"/>
            <a:ext cx="8178552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 pesquisa adota abordagem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qualitativa e aplicada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, enquadrada no paradigma do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Design Science Research (DSR)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— ideal para a proposição e avaliação de artefatos sociotécnicos.</a:t>
            </a:r>
            <a:endParaRPr lang="en-US" sz="950"/>
          </a:p>
        </p:txBody>
      </p:sp>
      <p:sp>
        <p:nvSpPr>
          <p:cNvPr id="1001188677" name="Shape 2"/>
          <p:cNvSpPr/>
          <p:nvPr/>
        </p:nvSpPr>
        <p:spPr bwMode="auto">
          <a:xfrm>
            <a:off x="482724" y="1413866"/>
            <a:ext cx="4033614" cy="1237729"/>
          </a:xfrm>
          <a:prstGeom prst="roundRect">
            <a:avLst>
              <a:gd name="adj" fmla="val 1463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275717480" name="Shape 3"/>
          <p:cNvSpPr/>
          <p:nvPr/>
        </p:nvSpPr>
        <p:spPr bwMode="auto">
          <a:xfrm>
            <a:off x="497012" y="1428155"/>
            <a:ext cx="4005038" cy="362024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/>
        </p:spPr>
      </p:sp>
      <p:sp>
        <p:nvSpPr>
          <p:cNvPr id="2147211724" name="Text 4"/>
          <p:cNvSpPr/>
          <p:nvPr/>
        </p:nvSpPr>
        <p:spPr bwMode="auto">
          <a:xfrm>
            <a:off x="2409006" y="1496020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1</a:t>
            </a:r>
            <a:endParaRPr lang="en-US" sz="1400"/>
          </a:p>
        </p:txBody>
      </p:sp>
      <p:sp>
        <p:nvSpPr>
          <p:cNvPr id="1805687181" name="Text 5"/>
          <p:cNvSpPr/>
          <p:nvPr/>
        </p:nvSpPr>
        <p:spPr bwMode="auto">
          <a:xfrm>
            <a:off x="617637" y="1901428"/>
            <a:ext cx="153761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Diagnóstico Prático</a:t>
            </a:r>
            <a:endParaRPr lang="en-US" sz="1100"/>
          </a:p>
        </p:txBody>
      </p:sp>
      <p:sp>
        <p:nvSpPr>
          <p:cNvPr id="853949661" name="Text 6"/>
          <p:cNvSpPr/>
          <p:nvPr/>
        </p:nvSpPr>
        <p:spPr bwMode="auto">
          <a:xfrm>
            <a:off x="617637" y="2145655"/>
            <a:ext cx="3763789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Crescimento acelerado de investidores PF na B3 e persistência estrutural da sobrecarga cognitiva nos instrumentos disponíveis</a:t>
            </a:r>
            <a:endParaRPr lang="en-US" sz="950"/>
          </a:p>
        </p:txBody>
      </p:sp>
      <p:sp>
        <p:nvSpPr>
          <p:cNvPr id="1561659733" name="Shape 7"/>
          <p:cNvSpPr/>
          <p:nvPr/>
        </p:nvSpPr>
        <p:spPr bwMode="auto">
          <a:xfrm>
            <a:off x="4627587" y="1413866"/>
            <a:ext cx="4033689" cy="1237729"/>
          </a:xfrm>
          <a:prstGeom prst="roundRect">
            <a:avLst>
              <a:gd name="adj" fmla="val 1463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410628956" name="Shape 8"/>
          <p:cNvSpPr/>
          <p:nvPr/>
        </p:nvSpPr>
        <p:spPr bwMode="auto">
          <a:xfrm>
            <a:off x="4641875" y="1428155"/>
            <a:ext cx="4005114" cy="362024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/>
        </p:spPr>
      </p:sp>
      <p:sp>
        <p:nvSpPr>
          <p:cNvPr id="812030162" name="Text 9"/>
          <p:cNvSpPr/>
          <p:nvPr/>
        </p:nvSpPr>
        <p:spPr bwMode="auto">
          <a:xfrm>
            <a:off x="6553944" y="1496020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2</a:t>
            </a:r>
            <a:endParaRPr lang="en-US" sz="1400"/>
          </a:p>
        </p:txBody>
      </p:sp>
      <p:sp>
        <p:nvSpPr>
          <p:cNvPr id="438859006" name="Text 10"/>
          <p:cNvSpPr/>
          <p:nvPr/>
        </p:nvSpPr>
        <p:spPr bwMode="auto">
          <a:xfrm>
            <a:off x="4762500" y="1901428"/>
            <a:ext cx="193253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Fundamentação Teórica</a:t>
            </a:r>
            <a:endParaRPr lang="en-US" sz="1100"/>
          </a:p>
        </p:txBody>
      </p:sp>
      <p:sp>
        <p:nvSpPr>
          <p:cNvPr id="112769490" name="Text 11"/>
          <p:cNvSpPr/>
          <p:nvPr/>
        </p:nvSpPr>
        <p:spPr bwMode="auto">
          <a:xfrm>
            <a:off x="4762500" y="2145655"/>
            <a:ext cx="3763863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Articulação entre Teoria da Carga Cognitiva, Finanças Comportamentais e Modelos de Linguagem de Grande Escala (LLMs)</a:t>
            </a:r>
            <a:endParaRPr lang="en-US" sz="950"/>
          </a:p>
        </p:txBody>
      </p:sp>
      <p:sp>
        <p:nvSpPr>
          <p:cNvPr id="757644806" name="Shape 12"/>
          <p:cNvSpPr/>
          <p:nvPr/>
        </p:nvSpPr>
        <p:spPr bwMode="auto">
          <a:xfrm>
            <a:off x="482724" y="2762845"/>
            <a:ext cx="4033614" cy="1237729"/>
          </a:xfrm>
          <a:prstGeom prst="roundRect">
            <a:avLst>
              <a:gd name="adj" fmla="val 1463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2142425950" name="Shape 13"/>
          <p:cNvSpPr/>
          <p:nvPr/>
        </p:nvSpPr>
        <p:spPr bwMode="auto">
          <a:xfrm>
            <a:off x="497012" y="2777133"/>
            <a:ext cx="4005038" cy="362024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/>
        </p:spPr>
      </p:sp>
      <p:sp>
        <p:nvSpPr>
          <p:cNvPr id="1726792082" name="Text 14"/>
          <p:cNvSpPr/>
          <p:nvPr/>
        </p:nvSpPr>
        <p:spPr bwMode="auto">
          <a:xfrm>
            <a:off x="2409006" y="2844998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3</a:t>
            </a:r>
            <a:endParaRPr lang="en-US" sz="1400"/>
          </a:p>
        </p:txBody>
      </p:sp>
      <p:sp>
        <p:nvSpPr>
          <p:cNvPr id="205530759" name="Text 15"/>
          <p:cNvSpPr/>
          <p:nvPr/>
        </p:nvSpPr>
        <p:spPr bwMode="auto">
          <a:xfrm>
            <a:off x="617637" y="3250406"/>
            <a:ext cx="1574899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Ideação do Artefato</a:t>
            </a:r>
            <a:endParaRPr lang="en-US" sz="1100"/>
          </a:p>
        </p:txBody>
      </p:sp>
      <p:sp>
        <p:nvSpPr>
          <p:cNvPr id="766714332" name="Text 16"/>
          <p:cNvSpPr/>
          <p:nvPr/>
        </p:nvSpPr>
        <p:spPr bwMode="auto">
          <a:xfrm>
            <a:off x="617637" y="3494633"/>
            <a:ext cx="3763789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Carteira Inteligente IA — modelo GPT com prompts especializados integrado a APIs externas para dados financeiros em tempo real</a:t>
            </a:r>
            <a:endParaRPr lang="en-US" sz="950"/>
          </a:p>
        </p:txBody>
      </p:sp>
      <p:sp>
        <p:nvSpPr>
          <p:cNvPr id="1751625323" name="Shape 17"/>
          <p:cNvSpPr/>
          <p:nvPr/>
        </p:nvSpPr>
        <p:spPr bwMode="auto">
          <a:xfrm>
            <a:off x="4627587" y="2762845"/>
            <a:ext cx="4033689" cy="1237729"/>
          </a:xfrm>
          <a:prstGeom prst="roundRect">
            <a:avLst>
              <a:gd name="adj" fmla="val 1463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053801288" name="Shape 18"/>
          <p:cNvSpPr/>
          <p:nvPr/>
        </p:nvSpPr>
        <p:spPr bwMode="auto">
          <a:xfrm>
            <a:off x="4641875" y="2777133"/>
            <a:ext cx="4005114" cy="362024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/>
        </p:spPr>
      </p:sp>
      <p:sp>
        <p:nvSpPr>
          <p:cNvPr id="862016154" name="Text 19"/>
          <p:cNvSpPr/>
          <p:nvPr/>
        </p:nvSpPr>
        <p:spPr bwMode="auto">
          <a:xfrm>
            <a:off x="6553944" y="2844998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4</a:t>
            </a:r>
            <a:endParaRPr lang="en-US" sz="1400"/>
          </a:p>
        </p:txBody>
      </p:sp>
      <p:sp>
        <p:nvSpPr>
          <p:cNvPr id="885204413" name="Text 20"/>
          <p:cNvSpPr/>
          <p:nvPr/>
        </p:nvSpPr>
        <p:spPr bwMode="auto">
          <a:xfrm>
            <a:off x="4762500" y="3250406"/>
            <a:ext cx="166293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Avaliação Conceitual</a:t>
            </a:r>
            <a:endParaRPr lang="en-US" sz="1100"/>
          </a:p>
        </p:txBody>
      </p:sp>
      <p:sp>
        <p:nvSpPr>
          <p:cNvPr id="1402796853" name="Text 21"/>
          <p:cNvSpPr/>
          <p:nvPr/>
        </p:nvSpPr>
        <p:spPr bwMode="auto">
          <a:xfrm>
            <a:off x="4762500" y="3494633"/>
            <a:ext cx="3763863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Análise da capacidade de mitigação da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carga cognitiva extrínseca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gerada por interfaces fragmentadas e navegação complexa</a:t>
            </a:r>
            <a:endParaRPr lang="en-US" sz="950"/>
          </a:p>
        </p:txBody>
      </p:sp>
      <p:sp>
        <p:nvSpPr>
          <p:cNvPr id="553456496" name="Shape 22"/>
          <p:cNvSpPr/>
          <p:nvPr/>
        </p:nvSpPr>
        <p:spPr bwMode="auto">
          <a:xfrm>
            <a:off x="482724" y="4125664"/>
            <a:ext cx="8178552" cy="677540"/>
          </a:xfrm>
          <a:prstGeom prst="roundRect">
            <a:avLst>
              <a:gd name="adj" fmla="val 2672"/>
            </a:avLst>
          </a:prstGeom>
          <a:solidFill>
            <a:srgbClr val="0F004D"/>
          </a:solidFill>
          <a:ln/>
        </p:spPr>
      </p:sp>
      <p:pic>
        <p:nvPicPr>
          <p:cNvPr id="214156959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3349" y="4304184"/>
            <a:ext cx="150837" cy="120625"/>
          </a:xfrm>
          <a:prstGeom prst="rect">
            <a:avLst/>
          </a:prstGeom>
        </p:spPr>
      </p:pic>
      <p:sp>
        <p:nvSpPr>
          <p:cNvPr id="1341715518" name="Text 23"/>
          <p:cNvSpPr/>
          <p:nvPr/>
        </p:nvSpPr>
        <p:spPr bwMode="auto">
          <a:xfrm>
            <a:off x="874812" y="4267051"/>
            <a:ext cx="7665839" cy="37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Escopo Técnico: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 Integração com Yahoo Finance via RapidAPI — endpoints </a:t>
            </a:r>
            <a:r>
              <a:rPr lang="en-US" sz="950">
                <a:solidFill>
                  <a:srgbClr val="FFFF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</a:rPr>
              <a:t>getStockSummary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, </a:t>
            </a:r>
            <a:r>
              <a:rPr lang="en-US" sz="950">
                <a:solidFill>
                  <a:srgbClr val="FFFF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</a:rPr>
              <a:t>getDividendHistory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 e </a:t>
            </a:r>
            <a:r>
              <a:rPr lang="en-US" sz="950">
                <a:solidFill>
                  <a:srgbClr val="FFFF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</a:rPr>
              <a:t>getFinancials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. Análise analítica sem recomendação de compra/venda.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817356" name="Text 0"/>
          <p:cNvSpPr/>
          <p:nvPr/>
        </p:nvSpPr>
        <p:spPr bwMode="auto">
          <a:xfrm>
            <a:off x="523577" y="1134517"/>
            <a:ext cx="6726882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Fundamentação Teórica: Três Pilares</a:t>
            </a:r>
            <a:endParaRPr lang="en-US" sz="2400"/>
          </a:p>
        </p:txBody>
      </p:sp>
      <p:pic>
        <p:nvPicPr>
          <p:cNvPr id="853993716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23577" y="1781249"/>
            <a:ext cx="327273" cy="327273"/>
          </a:xfrm>
          <a:prstGeom prst="rect">
            <a:avLst/>
          </a:prstGeom>
        </p:spPr>
      </p:pic>
      <p:sp>
        <p:nvSpPr>
          <p:cNvPr id="1330043717" name="Text 1"/>
          <p:cNvSpPr/>
          <p:nvPr/>
        </p:nvSpPr>
        <p:spPr bwMode="auto">
          <a:xfrm>
            <a:off x="523577" y="2272159"/>
            <a:ext cx="21940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Teoria da Carga Cognitiva</a:t>
            </a:r>
            <a:endParaRPr lang="en-US" sz="1200"/>
          </a:p>
        </p:txBody>
      </p:sp>
      <p:sp>
        <p:nvSpPr>
          <p:cNvPr id="574805577" name="Text 2"/>
          <p:cNvSpPr/>
          <p:nvPr/>
        </p:nvSpPr>
        <p:spPr bwMode="auto">
          <a:xfrm>
            <a:off x="523577" y="2543175"/>
            <a:ext cx="2589833" cy="146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Originada em Sweller (1988), distingue carga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intrínseca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(complexidade do conteúdo),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extrínseca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(imposta pelo design da interface) e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germane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(esforço de aprendizagem produtivo). Dashboards financeiros fragmentados elevam desnecessariamente a carga extrínseca.</a:t>
            </a:r>
            <a:endParaRPr lang="en-US" sz="1000"/>
          </a:p>
        </p:txBody>
      </p:sp>
      <p:pic>
        <p:nvPicPr>
          <p:cNvPr id="105876120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3277046" y="1781249"/>
            <a:ext cx="327273" cy="327273"/>
          </a:xfrm>
          <a:prstGeom prst="rect">
            <a:avLst/>
          </a:prstGeom>
        </p:spPr>
      </p:pic>
      <p:sp>
        <p:nvSpPr>
          <p:cNvPr id="337226396" name="Text 3"/>
          <p:cNvSpPr/>
          <p:nvPr/>
        </p:nvSpPr>
        <p:spPr bwMode="auto">
          <a:xfrm>
            <a:off x="3277046" y="2272159"/>
            <a:ext cx="238802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Finanças Comportamentais</a:t>
            </a:r>
            <a:endParaRPr lang="en-US" sz="1200"/>
          </a:p>
        </p:txBody>
      </p:sp>
      <p:sp>
        <p:nvSpPr>
          <p:cNvPr id="274893492" name="Text 4"/>
          <p:cNvSpPr/>
          <p:nvPr/>
        </p:nvSpPr>
        <p:spPr bwMode="auto">
          <a:xfrm>
            <a:off x="3277046" y="2543175"/>
            <a:ext cx="2589833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Kahneman e Tversky demonstraram que investidores são sistematicamente afetados por vieses cognitivos — ancoragem, excesso de confiança e heurística da disponibilidade — especialmente sob condições de alta sobrecarga informacional.</a:t>
            </a:r>
            <a:endParaRPr lang="en-US" sz="1000"/>
          </a:p>
        </p:txBody>
      </p:sp>
      <p:pic>
        <p:nvPicPr>
          <p:cNvPr id="1222736404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030516" y="1781249"/>
            <a:ext cx="327273" cy="327273"/>
          </a:xfrm>
          <a:prstGeom prst="rect">
            <a:avLst/>
          </a:prstGeom>
        </p:spPr>
      </p:pic>
      <p:sp>
        <p:nvSpPr>
          <p:cNvPr id="2094044846" name="Text 5"/>
          <p:cNvSpPr/>
          <p:nvPr/>
        </p:nvSpPr>
        <p:spPr bwMode="auto">
          <a:xfrm>
            <a:off x="6030516" y="2272159"/>
            <a:ext cx="217676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LLMs e IA Conversacional</a:t>
            </a:r>
            <a:endParaRPr lang="en-US" sz="1200"/>
          </a:p>
        </p:txBody>
      </p:sp>
      <p:sp>
        <p:nvSpPr>
          <p:cNvPr id="1473141933" name="Text 6"/>
          <p:cNvSpPr/>
          <p:nvPr/>
        </p:nvSpPr>
        <p:spPr bwMode="auto">
          <a:xfrm>
            <a:off x="6030516" y="2543175"/>
            <a:ext cx="2589907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Modelos de Linguagem de Grande Escala (GPT) permitem interação em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linguagem natural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, traduzindo consultas complexas em análises estruturadas — atuando como camada de abstração entre o dado bruto e o investidor.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97357" name="Shape 0"/>
          <p:cNvSpPr/>
          <p:nvPr/>
        </p:nvSpPr>
        <p:spPr bwMode="auto">
          <a:xfrm>
            <a:off x="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7068213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410" y="372963"/>
            <a:ext cx="3298180" cy="4397573"/>
          </a:xfrm>
          <a:prstGeom prst="rect">
            <a:avLst/>
          </a:prstGeom>
        </p:spPr>
      </p:pic>
      <p:sp>
        <p:nvSpPr>
          <p:cNvPr id="1860085242" name="Text 1"/>
          <p:cNvSpPr/>
          <p:nvPr/>
        </p:nvSpPr>
        <p:spPr bwMode="auto">
          <a:xfrm>
            <a:off x="3952577" y="589731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Resultados: Arquitetura e Funcionamento</a:t>
            </a:r>
            <a:endParaRPr lang="en-US" sz="2400"/>
          </a:p>
        </p:txBody>
      </p:sp>
      <p:pic>
        <p:nvPicPr>
          <p:cNvPr id="171697751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52577" y="1555924"/>
            <a:ext cx="4667845" cy="2012900"/>
          </a:xfrm>
          <a:prstGeom prst="rect">
            <a:avLst/>
          </a:prstGeom>
        </p:spPr>
      </p:pic>
      <p:sp>
        <p:nvSpPr>
          <p:cNvPr id="1922358843" name="Text 2"/>
          <p:cNvSpPr/>
          <p:nvPr/>
        </p:nvSpPr>
        <p:spPr bwMode="auto">
          <a:xfrm>
            <a:off x="4266657" y="3191000"/>
            <a:ext cx="14538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Cálculo</a:t>
            </a:r>
            <a:endParaRPr lang="en-US" sz="750"/>
          </a:p>
        </p:txBody>
      </p:sp>
      <p:sp>
        <p:nvSpPr>
          <p:cNvPr id="274046928" name="Text 3"/>
          <p:cNvSpPr/>
          <p:nvPr/>
        </p:nvSpPr>
        <p:spPr bwMode="auto">
          <a:xfrm>
            <a:off x="4266657" y="2725045"/>
            <a:ext cx="1453824" cy="12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APIs</a:t>
            </a:r>
            <a:endParaRPr lang="en-US" sz="750"/>
          </a:p>
        </p:txBody>
      </p:sp>
      <p:sp>
        <p:nvSpPr>
          <p:cNvPr id="1621796954" name="Text 4"/>
          <p:cNvSpPr/>
          <p:nvPr/>
        </p:nvSpPr>
        <p:spPr bwMode="auto">
          <a:xfrm>
            <a:off x="4266657" y="2263799"/>
            <a:ext cx="14538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Processamento</a:t>
            </a:r>
            <a:endParaRPr lang="en-US" sz="750"/>
          </a:p>
        </p:txBody>
      </p:sp>
      <p:sp>
        <p:nvSpPr>
          <p:cNvPr id="200544397" name="Text 5"/>
          <p:cNvSpPr/>
          <p:nvPr/>
        </p:nvSpPr>
        <p:spPr bwMode="auto">
          <a:xfrm>
            <a:off x="4266657" y="1797845"/>
            <a:ext cx="14538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Consulta</a:t>
            </a:r>
            <a:endParaRPr lang="en-US" sz="750"/>
          </a:p>
        </p:txBody>
      </p:sp>
      <p:sp>
        <p:nvSpPr>
          <p:cNvPr id="590567369" name="Text 6"/>
          <p:cNvSpPr/>
          <p:nvPr/>
        </p:nvSpPr>
        <p:spPr bwMode="auto">
          <a:xfrm>
            <a:off x="3952577" y="3716089"/>
            <a:ext cx="466784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 lógica operacional da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Carteira Inteligente IA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transforma uma única pergunta do usuário em um ciclo completo de consulta, processamento e síntese — substituindo múltiplos cliques em dashboards por uma resposta consolidada e semanticamente organizada.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785714" name="Text 0"/>
          <p:cNvSpPr/>
          <p:nvPr/>
        </p:nvSpPr>
        <p:spPr bwMode="auto">
          <a:xfrm>
            <a:off x="523577" y="925711"/>
            <a:ext cx="504750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Exemplo de Interação Real</a:t>
            </a:r>
            <a:endParaRPr lang="en-US" sz="2400"/>
          </a:p>
        </p:txBody>
      </p:sp>
      <p:sp>
        <p:nvSpPr>
          <p:cNvPr id="1791531405" name="Text 1"/>
          <p:cNvSpPr/>
          <p:nvPr/>
        </p:nvSpPr>
        <p:spPr bwMode="auto">
          <a:xfrm>
            <a:off x="523577" y="157244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 tabela abaixo ilustra como 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Carteira Inteligente IA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converte uma consulta em linguagem natural em um relatório estruturado e calculado automaticamente — demonstrando a redução concreta da carga cognitiva extrínseca.</a:t>
            </a:r>
            <a:endParaRPr lang="en-US" sz="1000"/>
          </a:p>
        </p:txBody>
      </p:sp>
      <p:sp>
        <p:nvSpPr>
          <p:cNvPr id="419045110" name="Shape 2"/>
          <p:cNvSpPr/>
          <p:nvPr/>
        </p:nvSpPr>
        <p:spPr bwMode="auto">
          <a:xfrm>
            <a:off x="523577" y="2138511"/>
            <a:ext cx="8096845" cy="975568"/>
          </a:xfrm>
          <a:prstGeom prst="roundRect">
            <a:avLst>
              <a:gd name="adj" fmla="val 201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18153952" name="Text 3"/>
          <p:cNvSpPr/>
          <p:nvPr/>
        </p:nvSpPr>
        <p:spPr bwMode="auto">
          <a:xfrm>
            <a:off x="659234" y="2226543"/>
            <a:ext cx="423669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Consulta do Usuário</a:t>
            </a:r>
            <a:endParaRPr lang="en-US" sz="1000"/>
          </a:p>
        </p:txBody>
      </p:sp>
      <p:sp>
        <p:nvSpPr>
          <p:cNvPr id="593388992" name="Text 4"/>
          <p:cNvSpPr/>
          <p:nvPr/>
        </p:nvSpPr>
        <p:spPr bwMode="auto">
          <a:xfrm>
            <a:off x="4705276" y="2226543"/>
            <a:ext cx="423669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Resposta Estruturada do Sistema</a:t>
            </a:r>
            <a:endParaRPr lang="en-US" sz="1000"/>
          </a:p>
        </p:txBody>
      </p:sp>
      <p:sp>
        <p:nvSpPr>
          <p:cNvPr id="1601723928" name="Text 5"/>
          <p:cNvSpPr/>
          <p:nvPr/>
        </p:nvSpPr>
        <p:spPr bwMode="auto">
          <a:xfrm>
            <a:off x="659234" y="2607246"/>
            <a:ext cx="377949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"Comprei 400 ações de ABEV3 a R$14,50 em 12/04/2021. Traga dividendos pagos desde a compra e calcule yield acumulado."</a:t>
            </a:r>
            <a:endParaRPr lang="en-US" sz="1000"/>
          </a:p>
        </p:txBody>
      </p:sp>
      <p:sp>
        <p:nvSpPr>
          <p:cNvPr id="321239152" name="Text 6"/>
          <p:cNvSpPr/>
          <p:nvPr/>
        </p:nvSpPr>
        <p:spPr bwMode="auto">
          <a:xfrm>
            <a:off x="4705276" y="2607246"/>
            <a:ext cx="377949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ABEV3: dividendos acumulados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R$3,203/ação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; yield acumulado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22,1%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— consolidado por ativo, métrica e horizonte temporal</a:t>
            </a:r>
            <a:endParaRPr lang="en-US" sz="1000"/>
          </a:p>
        </p:txBody>
      </p:sp>
      <p:sp>
        <p:nvSpPr>
          <p:cNvPr id="2042648752" name="Shape 7"/>
          <p:cNvSpPr/>
          <p:nvPr/>
        </p:nvSpPr>
        <p:spPr bwMode="auto">
          <a:xfrm>
            <a:off x="523577" y="3261345"/>
            <a:ext cx="2611636" cy="956370"/>
          </a:xfrm>
          <a:prstGeom prst="roundRect">
            <a:avLst>
              <a:gd name="adj" fmla="val 2053"/>
            </a:avLst>
          </a:prstGeom>
          <a:solidFill>
            <a:srgbClr val="2B2952"/>
          </a:solidFill>
          <a:ln/>
        </p:spPr>
      </p:sp>
      <p:sp>
        <p:nvSpPr>
          <p:cNvPr id="519048002" name="Text 8"/>
          <p:cNvSpPr/>
          <p:nvPr/>
        </p:nvSpPr>
        <p:spPr bwMode="auto">
          <a:xfrm>
            <a:off x="654471" y="3392239"/>
            <a:ext cx="168957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✅</a:t>
            </a: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Carga Extrínseca</a:t>
            </a:r>
            <a:endParaRPr lang="en-US" sz="1200"/>
          </a:p>
        </p:txBody>
      </p:sp>
      <p:sp>
        <p:nvSpPr>
          <p:cNvPr id="381482749" name="Text 9"/>
          <p:cNvSpPr/>
          <p:nvPr/>
        </p:nvSpPr>
        <p:spPr bwMode="auto">
          <a:xfrm>
            <a:off x="654471" y="3668018"/>
            <a:ext cx="234984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Menos navegação e zero integração manual entre plataformas</a:t>
            </a:r>
            <a:endParaRPr lang="en-US" sz="1000"/>
          </a:p>
        </p:txBody>
      </p:sp>
      <p:sp>
        <p:nvSpPr>
          <p:cNvPr id="1564876383" name="Shape 10"/>
          <p:cNvSpPr/>
          <p:nvPr/>
        </p:nvSpPr>
        <p:spPr bwMode="auto">
          <a:xfrm>
            <a:off x="3266108" y="3261345"/>
            <a:ext cx="2611710" cy="956370"/>
          </a:xfrm>
          <a:prstGeom prst="roundRect">
            <a:avLst>
              <a:gd name="adj" fmla="val 2053"/>
            </a:avLst>
          </a:prstGeom>
          <a:solidFill>
            <a:srgbClr val="2B2952"/>
          </a:solidFill>
          <a:ln/>
        </p:spPr>
      </p:sp>
      <p:sp>
        <p:nvSpPr>
          <p:cNvPr id="152138018" name="Text 11"/>
          <p:cNvSpPr/>
          <p:nvPr/>
        </p:nvSpPr>
        <p:spPr bwMode="auto">
          <a:xfrm>
            <a:off x="3397002" y="3392239"/>
            <a:ext cx="212958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✅</a:t>
            </a: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Unificação Semântica</a:t>
            </a:r>
            <a:endParaRPr lang="en-US" sz="1200"/>
          </a:p>
        </p:txBody>
      </p:sp>
      <p:sp>
        <p:nvSpPr>
          <p:cNvPr id="631057117" name="Text 12"/>
          <p:cNvSpPr/>
          <p:nvPr/>
        </p:nvSpPr>
        <p:spPr bwMode="auto">
          <a:xfrm>
            <a:off x="3397002" y="3668018"/>
            <a:ext cx="234992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Uma pergunta substitui múltiplos cliques e fontes dispersas</a:t>
            </a:r>
            <a:endParaRPr lang="en-US" sz="1000"/>
          </a:p>
        </p:txBody>
      </p:sp>
      <p:sp>
        <p:nvSpPr>
          <p:cNvPr id="2120536388" name="Shape 13"/>
          <p:cNvSpPr/>
          <p:nvPr/>
        </p:nvSpPr>
        <p:spPr bwMode="auto">
          <a:xfrm>
            <a:off x="6008712" y="3261345"/>
            <a:ext cx="2611710" cy="956370"/>
          </a:xfrm>
          <a:prstGeom prst="roundRect">
            <a:avLst>
              <a:gd name="adj" fmla="val 2053"/>
            </a:avLst>
          </a:prstGeom>
          <a:solidFill>
            <a:srgbClr val="2B2952"/>
          </a:solidFill>
          <a:ln/>
        </p:spPr>
      </p:sp>
      <p:sp>
        <p:nvSpPr>
          <p:cNvPr id="1342414216" name="Text 14"/>
          <p:cNvSpPr/>
          <p:nvPr/>
        </p:nvSpPr>
        <p:spPr bwMode="auto">
          <a:xfrm>
            <a:off x="6139607" y="3392239"/>
            <a:ext cx="190879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✅</a:t>
            </a: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Resposta Agrupada</a:t>
            </a:r>
            <a:endParaRPr lang="en-US" sz="1200"/>
          </a:p>
        </p:txBody>
      </p:sp>
      <p:sp>
        <p:nvSpPr>
          <p:cNvPr id="1586432414" name="Text 15"/>
          <p:cNvSpPr/>
          <p:nvPr/>
        </p:nvSpPr>
        <p:spPr bwMode="auto">
          <a:xfrm>
            <a:off x="6139607" y="3668018"/>
            <a:ext cx="234992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Organizada por ativo, métrica e horizonte temporal de forma automática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19689" name="Text 0"/>
          <p:cNvSpPr/>
          <p:nvPr/>
        </p:nvSpPr>
        <p:spPr bwMode="auto">
          <a:xfrm>
            <a:off x="523577" y="626120"/>
            <a:ext cx="7002512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Comparativo com Soluções Existentes</a:t>
            </a:r>
            <a:endParaRPr lang="en-US" sz="2400"/>
          </a:p>
        </p:txBody>
      </p:sp>
      <p:sp>
        <p:nvSpPr>
          <p:cNvPr id="377149159" name="Text 1"/>
          <p:cNvSpPr/>
          <p:nvPr/>
        </p:nvSpPr>
        <p:spPr bwMode="auto">
          <a:xfrm>
            <a:off x="523577" y="1272853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As principais plataformas brasileiras oferecem dados ricos, mas exigem navegação autônoma e correlação manual — impondo carga cognitiva elevada ao investidor não especialista.</a:t>
            </a:r>
            <a:endParaRPr lang="en-US" sz="1000"/>
          </a:p>
        </p:txBody>
      </p:sp>
      <p:sp>
        <p:nvSpPr>
          <p:cNvPr id="787539234" name="Shape 2"/>
          <p:cNvSpPr/>
          <p:nvPr/>
        </p:nvSpPr>
        <p:spPr bwMode="auto">
          <a:xfrm>
            <a:off x="523577" y="1838920"/>
            <a:ext cx="8096845" cy="1765548"/>
          </a:xfrm>
          <a:prstGeom prst="roundRect">
            <a:avLst>
              <a:gd name="adj" fmla="val 111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79003777" name="Shape 3"/>
          <p:cNvSpPr/>
          <p:nvPr/>
        </p:nvSpPr>
        <p:spPr bwMode="auto">
          <a:xfrm>
            <a:off x="528340" y="1843683"/>
            <a:ext cx="8087320" cy="375940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89430535" name="Text 4"/>
          <p:cNvSpPr/>
          <p:nvPr/>
        </p:nvSpPr>
        <p:spPr bwMode="auto">
          <a:xfrm>
            <a:off x="659309" y="1926952"/>
            <a:ext cx="245745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Plataforma</a:t>
            </a:r>
            <a:endParaRPr lang="en-US" sz="1000"/>
          </a:p>
        </p:txBody>
      </p:sp>
      <p:sp>
        <p:nvSpPr>
          <p:cNvPr id="1194932786" name="Text 5"/>
          <p:cNvSpPr/>
          <p:nvPr/>
        </p:nvSpPr>
        <p:spPr bwMode="auto">
          <a:xfrm>
            <a:off x="2926110" y="1926952"/>
            <a:ext cx="213159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Função Principal</a:t>
            </a:r>
            <a:endParaRPr lang="en-US" sz="1000"/>
          </a:p>
        </p:txBody>
      </p:sp>
      <p:sp>
        <p:nvSpPr>
          <p:cNvPr id="108710845" name="Text 6"/>
          <p:cNvSpPr/>
          <p:nvPr/>
        </p:nvSpPr>
        <p:spPr bwMode="auto">
          <a:xfrm>
            <a:off x="4867052" y="1926952"/>
            <a:ext cx="213159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Exigência Cognitiva</a:t>
            </a:r>
            <a:endParaRPr lang="en-US" sz="1000"/>
          </a:p>
        </p:txBody>
      </p:sp>
      <p:sp>
        <p:nvSpPr>
          <p:cNvPr id="654010633" name="Text 7"/>
          <p:cNvSpPr/>
          <p:nvPr/>
        </p:nvSpPr>
        <p:spPr bwMode="auto">
          <a:xfrm>
            <a:off x="6807994" y="1926952"/>
            <a:ext cx="213397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Lógica de Interação</a:t>
            </a:r>
            <a:endParaRPr lang="en-US" sz="1000"/>
          </a:p>
        </p:txBody>
      </p:sp>
      <p:sp>
        <p:nvSpPr>
          <p:cNvPr id="338331423" name="Shape 8"/>
          <p:cNvSpPr/>
          <p:nvPr/>
        </p:nvSpPr>
        <p:spPr bwMode="auto">
          <a:xfrm>
            <a:off x="528340" y="2219623"/>
            <a:ext cx="8087320" cy="794742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543275588" name="Text 9"/>
          <p:cNvSpPr/>
          <p:nvPr/>
        </p:nvSpPr>
        <p:spPr bwMode="auto">
          <a:xfrm>
            <a:off x="659309" y="2302892"/>
            <a:ext cx="200025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Status Invest / TradeMap / Comdinheiro / Fundamentus</a:t>
            </a:r>
            <a:endParaRPr lang="en-US" sz="1000"/>
          </a:p>
        </p:txBody>
      </p:sp>
      <p:sp>
        <p:nvSpPr>
          <p:cNvPr id="42035098" name="Text 10"/>
          <p:cNvSpPr/>
          <p:nvPr/>
        </p:nvSpPr>
        <p:spPr bwMode="auto">
          <a:xfrm>
            <a:off x="2926110" y="2302892"/>
            <a:ext cx="167439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Indicadores, screener, relatórios</a:t>
            </a:r>
            <a:endParaRPr lang="en-US" sz="1000"/>
          </a:p>
        </p:txBody>
      </p:sp>
      <p:sp>
        <p:nvSpPr>
          <p:cNvPr id="1080380592" name="Text 11"/>
          <p:cNvSpPr/>
          <p:nvPr/>
        </p:nvSpPr>
        <p:spPr bwMode="auto">
          <a:xfrm>
            <a:off x="4867052" y="2302892"/>
            <a:ext cx="1674391" cy="6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Navegação entre telas, interpretação autônoma, correlação manual</a:t>
            </a:r>
            <a:endParaRPr lang="en-US" sz="1000"/>
          </a:p>
        </p:txBody>
      </p:sp>
      <p:sp>
        <p:nvSpPr>
          <p:cNvPr id="502520208" name="Text 12"/>
          <p:cNvSpPr/>
          <p:nvPr/>
        </p:nvSpPr>
        <p:spPr bwMode="auto">
          <a:xfrm>
            <a:off x="6807994" y="2302892"/>
            <a:ext cx="213397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Menus, painéis e filtros</a:t>
            </a:r>
            <a:endParaRPr lang="en-US" sz="1000"/>
          </a:p>
        </p:txBody>
      </p:sp>
      <p:sp>
        <p:nvSpPr>
          <p:cNvPr id="121361289" name="Shape 13"/>
          <p:cNvSpPr/>
          <p:nvPr/>
        </p:nvSpPr>
        <p:spPr bwMode="auto">
          <a:xfrm>
            <a:off x="528340" y="3014365"/>
            <a:ext cx="8087320" cy="585341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673566698" name="Text 14"/>
          <p:cNvSpPr/>
          <p:nvPr/>
        </p:nvSpPr>
        <p:spPr bwMode="auto">
          <a:xfrm>
            <a:off x="659309" y="3097634"/>
            <a:ext cx="245745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3371A5"/>
                </a:solidFill>
                <a:latin typeface="Arimo"/>
                <a:ea typeface="Arimo"/>
                <a:cs typeface="Arimo"/>
              </a:rPr>
              <a:t>Carteira Inteligente IA</a:t>
            </a:r>
            <a:endParaRPr lang="en-US" sz="1000"/>
          </a:p>
        </p:txBody>
      </p:sp>
      <p:sp>
        <p:nvSpPr>
          <p:cNvPr id="1366959853" name="Text 15"/>
          <p:cNvSpPr/>
          <p:nvPr/>
        </p:nvSpPr>
        <p:spPr bwMode="auto">
          <a:xfrm>
            <a:off x="2926110" y="3097634"/>
            <a:ext cx="167439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Consulta conversacional com cálculo e síntese</a:t>
            </a:r>
            <a:endParaRPr lang="en-US" sz="1000"/>
          </a:p>
        </p:txBody>
      </p:sp>
      <p:sp>
        <p:nvSpPr>
          <p:cNvPr id="1358817118" name="Text 16"/>
          <p:cNvSpPr/>
          <p:nvPr/>
        </p:nvSpPr>
        <p:spPr bwMode="auto">
          <a:xfrm>
            <a:off x="4867052" y="3097634"/>
            <a:ext cx="167439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Redução do esforço de navegação e integração</a:t>
            </a:r>
            <a:endParaRPr lang="en-US" sz="1000"/>
          </a:p>
        </p:txBody>
      </p:sp>
      <p:sp>
        <p:nvSpPr>
          <p:cNvPr id="770920724" name="Text 17"/>
          <p:cNvSpPr/>
          <p:nvPr/>
        </p:nvSpPr>
        <p:spPr bwMode="auto">
          <a:xfrm>
            <a:off x="6807994" y="3097634"/>
            <a:ext cx="167677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Linguagem natural → resposta estruturada</a:t>
            </a:r>
            <a:endParaRPr lang="en-US" sz="1000"/>
          </a:p>
        </p:txBody>
      </p:sp>
      <p:sp>
        <p:nvSpPr>
          <p:cNvPr id="1317135768" name="Shape 18"/>
          <p:cNvSpPr/>
          <p:nvPr/>
        </p:nvSpPr>
        <p:spPr bwMode="auto">
          <a:xfrm>
            <a:off x="523577" y="3751734"/>
            <a:ext cx="8096845" cy="765572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pic>
        <p:nvPicPr>
          <p:cNvPr id="16428950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4471" y="3948336"/>
            <a:ext cx="163637" cy="130894"/>
          </a:xfrm>
          <a:prstGeom prst="rect">
            <a:avLst/>
          </a:prstGeom>
        </p:spPr>
      </p:pic>
      <p:sp>
        <p:nvSpPr>
          <p:cNvPr id="1766465126" name="Text 19"/>
          <p:cNvSpPr/>
          <p:nvPr/>
        </p:nvSpPr>
        <p:spPr bwMode="auto">
          <a:xfrm>
            <a:off x="949003" y="3915295"/>
            <a:ext cx="754052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Diferencial Tecnológico: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 O objetivo não é criar uma nova base de dados, mas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revolucionar o acesso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 a ela por meio de uma camada de unificação semântica — tornando o dado contábil acessível a qualquer investidor.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379762" name="Text 0"/>
          <p:cNvSpPr/>
          <p:nvPr/>
        </p:nvSpPr>
        <p:spPr bwMode="auto">
          <a:xfrm>
            <a:off x="466353" y="353095"/>
            <a:ext cx="466345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Possibilidades de Expansão</a:t>
            </a:r>
            <a:endParaRPr lang="en-US" sz="2150"/>
          </a:p>
        </p:txBody>
      </p:sp>
      <p:sp>
        <p:nvSpPr>
          <p:cNvPr id="1167292767" name="Text 1"/>
          <p:cNvSpPr/>
          <p:nvPr/>
        </p:nvSpPr>
        <p:spPr bwMode="auto">
          <a:xfrm>
            <a:off x="466353" y="903610"/>
            <a:ext cx="821129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A arquitetura da Carteira Inteligente IA foi projetada de forma modular, permitindo evolução incremental das funcionalidades e amplificação progressiva dos efeitos de redução cognitiva.</a:t>
            </a:r>
            <a:endParaRPr lang="en-US" sz="900"/>
          </a:p>
        </p:txBody>
      </p:sp>
      <p:sp>
        <p:nvSpPr>
          <p:cNvPr id="951324450" name="Shape 2"/>
          <p:cNvSpPr/>
          <p:nvPr/>
        </p:nvSpPr>
        <p:spPr bwMode="auto">
          <a:xfrm>
            <a:off x="4564856" y="1373088"/>
            <a:ext cx="14288" cy="3417243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1065054219" name="Shape 3"/>
          <p:cNvSpPr/>
          <p:nvPr/>
        </p:nvSpPr>
        <p:spPr bwMode="auto">
          <a:xfrm>
            <a:off x="4105387" y="1497062"/>
            <a:ext cx="349746" cy="14288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1300533954" name="Shape 4"/>
          <p:cNvSpPr/>
          <p:nvPr/>
        </p:nvSpPr>
        <p:spPr bwMode="auto">
          <a:xfrm>
            <a:off x="4440845" y="1373088"/>
            <a:ext cx="262310" cy="26231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478477096" name="Text 5"/>
          <p:cNvSpPr/>
          <p:nvPr/>
        </p:nvSpPr>
        <p:spPr bwMode="auto">
          <a:xfrm>
            <a:off x="4489698" y="1401366"/>
            <a:ext cx="16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1</a:t>
            </a:r>
            <a:endParaRPr lang="en-US" sz="1250"/>
          </a:p>
        </p:txBody>
      </p:sp>
      <p:sp>
        <p:nvSpPr>
          <p:cNvPr id="1804032749" name="Text 6"/>
          <p:cNvSpPr/>
          <p:nvPr/>
        </p:nvSpPr>
        <p:spPr bwMode="auto">
          <a:xfrm>
            <a:off x="2447627" y="1413123"/>
            <a:ext cx="1541413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  <a:defRPr/>
            </a:pPr>
            <a:r>
              <a:rPr lang="en-US" sz="10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Chatbot Patrimonial</a:t>
            </a:r>
            <a:endParaRPr lang="en-US" sz="1050"/>
          </a:p>
        </p:txBody>
      </p:sp>
      <p:sp>
        <p:nvSpPr>
          <p:cNvPr id="176923749" name="Text 7"/>
          <p:cNvSpPr/>
          <p:nvPr/>
        </p:nvSpPr>
        <p:spPr bwMode="auto">
          <a:xfrm>
            <a:off x="466353" y="1646782"/>
            <a:ext cx="3522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Registro de ativos em linguagem natural — redução do esforço de organização inicial do portfólio</a:t>
            </a:r>
            <a:endParaRPr lang="en-US" sz="900"/>
          </a:p>
        </p:txBody>
      </p:sp>
      <p:sp>
        <p:nvSpPr>
          <p:cNvPr id="1491653689" name="Shape 8"/>
          <p:cNvSpPr/>
          <p:nvPr/>
        </p:nvSpPr>
        <p:spPr bwMode="auto">
          <a:xfrm>
            <a:off x="4688867" y="2171030"/>
            <a:ext cx="349746" cy="14288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281981079" name="Shape 9"/>
          <p:cNvSpPr/>
          <p:nvPr/>
        </p:nvSpPr>
        <p:spPr bwMode="auto">
          <a:xfrm>
            <a:off x="4440845" y="2047056"/>
            <a:ext cx="262310" cy="26231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374910424" name="Text 10"/>
          <p:cNvSpPr/>
          <p:nvPr/>
        </p:nvSpPr>
        <p:spPr bwMode="auto">
          <a:xfrm>
            <a:off x="4489698" y="2075334"/>
            <a:ext cx="16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2</a:t>
            </a:r>
            <a:endParaRPr lang="en-US" sz="1250"/>
          </a:p>
        </p:txBody>
      </p:sp>
      <p:sp>
        <p:nvSpPr>
          <p:cNvPr id="16523827" name="Text 11"/>
          <p:cNvSpPr/>
          <p:nvPr/>
        </p:nvSpPr>
        <p:spPr bwMode="auto">
          <a:xfrm>
            <a:off x="5154960" y="2087091"/>
            <a:ext cx="1769492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Dashboards Dinâmicos</a:t>
            </a:r>
            <a:endParaRPr lang="en-US" sz="1050"/>
          </a:p>
        </p:txBody>
      </p:sp>
      <p:sp>
        <p:nvSpPr>
          <p:cNvPr id="520156011" name="Text 12"/>
          <p:cNvSpPr/>
          <p:nvPr/>
        </p:nvSpPr>
        <p:spPr bwMode="auto">
          <a:xfrm>
            <a:off x="5154960" y="2320751"/>
            <a:ext cx="3522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Visualização consolidada de liquidez, proventos e composição — dados dispersos convertidos em insight visual</a:t>
            </a:r>
            <a:endParaRPr lang="en-US" sz="900"/>
          </a:p>
        </p:txBody>
      </p:sp>
      <p:sp>
        <p:nvSpPr>
          <p:cNvPr id="626098996" name="Shape 13"/>
          <p:cNvSpPr/>
          <p:nvPr/>
        </p:nvSpPr>
        <p:spPr bwMode="auto">
          <a:xfrm>
            <a:off x="4105387" y="2761208"/>
            <a:ext cx="349746" cy="14288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1604091338" name="Shape 14"/>
          <p:cNvSpPr/>
          <p:nvPr/>
        </p:nvSpPr>
        <p:spPr bwMode="auto">
          <a:xfrm>
            <a:off x="4440845" y="2637234"/>
            <a:ext cx="262310" cy="26231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855883222" name="Text 15"/>
          <p:cNvSpPr/>
          <p:nvPr/>
        </p:nvSpPr>
        <p:spPr bwMode="auto">
          <a:xfrm>
            <a:off x="4489698" y="2665512"/>
            <a:ext cx="16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3</a:t>
            </a:r>
            <a:endParaRPr lang="en-US" sz="1250"/>
          </a:p>
        </p:txBody>
      </p:sp>
      <p:sp>
        <p:nvSpPr>
          <p:cNvPr id="1202347144" name="Text 16"/>
          <p:cNvSpPr/>
          <p:nvPr/>
        </p:nvSpPr>
        <p:spPr bwMode="auto">
          <a:xfrm>
            <a:off x="2175793" y="2677269"/>
            <a:ext cx="1813247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  <a:defRPr/>
            </a:pPr>
            <a:r>
              <a:rPr lang="en-US" sz="10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Detecção de Anomalias</a:t>
            </a:r>
            <a:endParaRPr lang="en-US" sz="1050"/>
          </a:p>
        </p:txBody>
      </p:sp>
      <p:sp>
        <p:nvSpPr>
          <p:cNvPr id="1024261509" name="Text 17"/>
          <p:cNvSpPr/>
          <p:nvPr/>
        </p:nvSpPr>
        <p:spPr bwMode="auto">
          <a:xfrm>
            <a:off x="466353" y="2910929"/>
            <a:ext cx="3522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Identificação automática de padrões atípicos — apoio à atenção seletiva e redução de vieses de confirmação</a:t>
            </a:r>
            <a:endParaRPr lang="en-US" sz="900"/>
          </a:p>
        </p:txBody>
      </p:sp>
      <p:sp>
        <p:nvSpPr>
          <p:cNvPr id="16203514" name="Shape 18"/>
          <p:cNvSpPr/>
          <p:nvPr/>
        </p:nvSpPr>
        <p:spPr bwMode="auto">
          <a:xfrm>
            <a:off x="4688867" y="3351386"/>
            <a:ext cx="349746" cy="14288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424233173" name="Shape 19"/>
          <p:cNvSpPr/>
          <p:nvPr/>
        </p:nvSpPr>
        <p:spPr bwMode="auto">
          <a:xfrm>
            <a:off x="4440845" y="3227412"/>
            <a:ext cx="262310" cy="26231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198428356" name="Text 20"/>
          <p:cNvSpPr/>
          <p:nvPr/>
        </p:nvSpPr>
        <p:spPr bwMode="auto">
          <a:xfrm>
            <a:off x="4489698" y="3255690"/>
            <a:ext cx="16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4</a:t>
            </a:r>
            <a:endParaRPr lang="en-US" sz="1250"/>
          </a:p>
        </p:txBody>
      </p:sp>
      <p:sp>
        <p:nvSpPr>
          <p:cNvPr id="761486656" name="Text 21"/>
          <p:cNvSpPr/>
          <p:nvPr/>
        </p:nvSpPr>
        <p:spPr bwMode="auto">
          <a:xfrm>
            <a:off x="5154960" y="3267447"/>
            <a:ext cx="2028379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Sugestões Parametrizadas</a:t>
            </a:r>
            <a:endParaRPr lang="en-US" sz="1050"/>
          </a:p>
        </p:txBody>
      </p:sp>
      <p:sp>
        <p:nvSpPr>
          <p:cNvPr id="578745099" name="Text 22"/>
          <p:cNvSpPr/>
          <p:nvPr/>
        </p:nvSpPr>
        <p:spPr bwMode="auto">
          <a:xfrm>
            <a:off x="5154960" y="3501107"/>
            <a:ext cx="3522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Simulações de rebalanceamento sob diferentes cenários — redução do cálculo exploratório manual</a:t>
            </a:r>
            <a:endParaRPr lang="en-US" sz="900"/>
          </a:p>
        </p:txBody>
      </p:sp>
      <p:sp>
        <p:nvSpPr>
          <p:cNvPr id="1573636385" name="Shape 23"/>
          <p:cNvSpPr/>
          <p:nvPr/>
        </p:nvSpPr>
        <p:spPr bwMode="auto">
          <a:xfrm>
            <a:off x="4105387" y="3941564"/>
            <a:ext cx="349746" cy="14288"/>
          </a:xfrm>
          <a:prstGeom prst="roundRect">
            <a:avLst>
              <a:gd name="adj" fmla="val 122403"/>
            </a:avLst>
          </a:prstGeom>
          <a:solidFill>
            <a:srgbClr val="44426B"/>
          </a:solidFill>
          <a:ln/>
        </p:spPr>
      </p:sp>
      <p:sp>
        <p:nvSpPr>
          <p:cNvPr id="812097870" name="Shape 24"/>
          <p:cNvSpPr/>
          <p:nvPr/>
        </p:nvSpPr>
        <p:spPr bwMode="auto">
          <a:xfrm>
            <a:off x="4440845" y="3817590"/>
            <a:ext cx="262310" cy="26231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937328323" name="Text 25"/>
          <p:cNvSpPr/>
          <p:nvPr/>
        </p:nvSpPr>
        <p:spPr bwMode="auto">
          <a:xfrm>
            <a:off x="4489698" y="3845868"/>
            <a:ext cx="16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5</a:t>
            </a:r>
            <a:endParaRPr lang="en-US" sz="1250"/>
          </a:p>
        </p:txBody>
      </p:sp>
      <p:sp>
        <p:nvSpPr>
          <p:cNvPr id="1576095953" name="Text 26"/>
          <p:cNvSpPr/>
          <p:nvPr/>
        </p:nvSpPr>
        <p:spPr bwMode="auto">
          <a:xfrm>
            <a:off x="2420317" y="3857625"/>
            <a:ext cx="1568723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  <a:defRPr/>
            </a:pPr>
            <a:r>
              <a:rPr lang="en-US" sz="10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Atendimento Híbrido</a:t>
            </a:r>
            <a:endParaRPr lang="en-US" sz="1050"/>
          </a:p>
        </p:txBody>
      </p:sp>
      <p:sp>
        <p:nvSpPr>
          <p:cNvPr id="1375278233" name="Text 27"/>
          <p:cNvSpPr/>
          <p:nvPr/>
        </p:nvSpPr>
        <p:spPr bwMode="auto">
          <a:xfrm>
            <a:off x="466353" y="4091285"/>
            <a:ext cx="3522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Triagem pela IA + revisão por analista CEA — </a:t>
            </a:r>
            <a:r>
              <a:rPr lang="en-US" sz="9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human in the loop</a:t>
            </a:r>
            <a:r>
              <a:rPr lang="en-US" sz="900">
                <a:solidFill>
                  <a:srgbClr val="D9E1FF"/>
                </a:solidFill>
                <a:latin typeface="Arimo"/>
                <a:ea typeface="Arimo"/>
                <a:cs typeface="Arimo"/>
              </a:rPr>
              <a:t> para decisões patrimoniais de maior complexidade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789998" name="Text 0"/>
          <p:cNvSpPr/>
          <p:nvPr/>
        </p:nvSpPr>
        <p:spPr bwMode="auto">
          <a:xfrm>
            <a:off x="523577" y="783952"/>
            <a:ext cx="381483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Limitações e Riscos</a:t>
            </a:r>
            <a:endParaRPr lang="en-US" sz="2400"/>
          </a:p>
        </p:txBody>
      </p:sp>
      <p:sp>
        <p:nvSpPr>
          <p:cNvPr id="1018759237" name="Shape 1"/>
          <p:cNvSpPr/>
          <p:nvPr/>
        </p:nvSpPr>
        <p:spPr bwMode="auto">
          <a:xfrm>
            <a:off x="523577" y="1430685"/>
            <a:ext cx="3982938" cy="1398984"/>
          </a:xfrm>
          <a:prstGeom prst="roundRect">
            <a:avLst>
              <a:gd name="adj" fmla="val 4902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303424409" name="Shape 2"/>
          <p:cNvSpPr/>
          <p:nvPr/>
        </p:nvSpPr>
        <p:spPr bwMode="auto">
          <a:xfrm>
            <a:off x="509290" y="1430685"/>
            <a:ext cx="57150" cy="1398984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427984419" name="Text 3"/>
          <p:cNvSpPr/>
          <p:nvPr/>
        </p:nvSpPr>
        <p:spPr bwMode="auto">
          <a:xfrm>
            <a:off x="711622" y="1575866"/>
            <a:ext cx="287870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Dependência de APIs de Terceiros</a:t>
            </a:r>
            <a:endParaRPr lang="en-US" sz="1200"/>
          </a:p>
        </p:txBody>
      </p:sp>
      <p:sp>
        <p:nvSpPr>
          <p:cNvPr id="238713082" name="Text 4"/>
          <p:cNvSpPr/>
          <p:nvPr/>
        </p:nvSpPr>
        <p:spPr bwMode="auto">
          <a:xfrm>
            <a:off x="711622" y="1846883"/>
            <a:ext cx="36497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Risco de indisponibilidade, latência e inconsistência temporal nos dados fornecidos pelo Yahoo Finance via RapidAPI. A confiabilidade do sistema está parcialmente condicionada à estabilidade de infraestruturas externas.</a:t>
            </a:r>
            <a:endParaRPr lang="en-US" sz="1000"/>
          </a:p>
        </p:txBody>
      </p:sp>
      <p:sp>
        <p:nvSpPr>
          <p:cNvPr id="1551469301" name="Shape 5"/>
          <p:cNvSpPr/>
          <p:nvPr/>
        </p:nvSpPr>
        <p:spPr bwMode="auto">
          <a:xfrm>
            <a:off x="4637409" y="1430685"/>
            <a:ext cx="3983013" cy="1398984"/>
          </a:xfrm>
          <a:prstGeom prst="roundRect">
            <a:avLst>
              <a:gd name="adj" fmla="val 4902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721751261" name="Shape 6"/>
          <p:cNvSpPr/>
          <p:nvPr/>
        </p:nvSpPr>
        <p:spPr bwMode="auto">
          <a:xfrm>
            <a:off x="4623122" y="1430685"/>
            <a:ext cx="57150" cy="1398984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207108744" name="Text 7"/>
          <p:cNvSpPr/>
          <p:nvPr/>
        </p:nvSpPr>
        <p:spPr bwMode="auto">
          <a:xfrm>
            <a:off x="4825454" y="1575866"/>
            <a:ext cx="331008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Limitações dos Modelos de Linguagem</a:t>
            </a:r>
            <a:endParaRPr lang="en-US" sz="1200"/>
          </a:p>
        </p:txBody>
      </p:sp>
      <p:sp>
        <p:nvSpPr>
          <p:cNvPr id="488906698" name="Text 8"/>
          <p:cNvSpPr/>
          <p:nvPr/>
        </p:nvSpPr>
        <p:spPr bwMode="auto">
          <a:xfrm>
            <a:off x="4825454" y="1846883"/>
            <a:ext cx="364978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LLMs estão sujeitos 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alucinações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, desvios semânticos e interpretações equivocadas. A mitigação requer prompts altamente restritivos, validação de saídas e mecanismos de rastreabilidade das respostas geradas.</a:t>
            </a:r>
            <a:endParaRPr lang="en-US" sz="1000"/>
          </a:p>
        </p:txBody>
      </p:sp>
      <p:sp>
        <p:nvSpPr>
          <p:cNvPr id="38522764" name="Shape 9"/>
          <p:cNvSpPr/>
          <p:nvPr/>
        </p:nvSpPr>
        <p:spPr bwMode="auto">
          <a:xfrm>
            <a:off x="523577" y="2960563"/>
            <a:ext cx="3982938" cy="1398984"/>
          </a:xfrm>
          <a:prstGeom prst="roundRect">
            <a:avLst>
              <a:gd name="adj" fmla="val 4902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453485392" name="Shape 10"/>
          <p:cNvSpPr/>
          <p:nvPr/>
        </p:nvSpPr>
        <p:spPr bwMode="auto">
          <a:xfrm>
            <a:off x="509290" y="2960563"/>
            <a:ext cx="57150" cy="1398984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30607429" name="Text 11"/>
          <p:cNvSpPr/>
          <p:nvPr/>
        </p:nvSpPr>
        <p:spPr bwMode="auto">
          <a:xfrm>
            <a:off x="711622" y="3105745"/>
            <a:ext cx="251549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Validação Empírica Pendente</a:t>
            </a:r>
            <a:endParaRPr lang="en-US" sz="1200"/>
          </a:p>
        </p:txBody>
      </p:sp>
      <p:sp>
        <p:nvSpPr>
          <p:cNvPr id="1912067514" name="Text 12"/>
          <p:cNvSpPr/>
          <p:nvPr/>
        </p:nvSpPr>
        <p:spPr bwMode="auto">
          <a:xfrm>
            <a:off x="711622" y="3376761"/>
            <a:ext cx="36497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O estudo apresenta uma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proposição arquitetural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. Testes com usuários reais — medindo tempo de busca, carga cognitiva percebida e precisão interpretativa — ainda não foram realizados.</a:t>
            </a:r>
            <a:endParaRPr lang="en-US" sz="1000"/>
          </a:p>
        </p:txBody>
      </p:sp>
      <p:sp>
        <p:nvSpPr>
          <p:cNvPr id="152207080" name="Shape 13"/>
          <p:cNvSpPr/>
          <p:nvPr/>
        </p:nvSpPr>
        <p:spPr bwMode="auto">
          <a:xfrm>
            <a:off x="4637409" y="2960563"/>
            <a:ext cx="3983013" cy="1398984"/>
          </a:xfrm>
          <a:prstGeom prst="roundRect">
            <a:avLst>
              <a:gd name="adj" fmla="val 4902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625944447" name="Shape 14"/>
          <p:cNvSpPr/>
          <p:nvPr/>
        </p:nvSpPr>
        <p:spPr bwMode="auto">
          <a:xfrm>
            <a:off x="4623122" y="2960563"/>
            <a:ext cx="57150" cy="1398984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306624103" name="Text 15"/>
          <p:cNvSpPr/>
          <p:nvPr/>
        </p:nvSpPr>
        <p:spPr bwMode="auto">
          <a:xfrm>
            <a:off x="4825454" y="3105745"/>
            <a:ext cx="227803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Governança Informacional</a:t>
            </a:r>
            <a:endParaRPr lang="en-US" sz="1200"/>
          </a:p>
        </p:txBody>
      </p:sp>
      <p:sp>
        <p:nvSpPr>
          <p:cNvPr id="731753596" name="Text 16"/>
          <p:cNvSpPr/>
          <p:nvPr/>
        </p:nvSpPr>
        <p:spPr bwMode="auto">
          <a:xfrm>
            <a:off x="4825454" y="3376761"/>
            <a:ext cx="364978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 redução de carga cognitiva deve ser acompanhada de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mecanismos de verificação e rastreabilidade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, evitando que a fluidez da interface mascara imprecisões nos dados apresentados ao investidor.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599927" name="Text 0"/>
          <p:cNvSpPr/>
          <p:nvPr/>
        </p:nvSpPr>
        <p:spPr bwMode="auto">
          <a:xfrm>
            <a:off x="523577" y="378693"/>
            <a:ext cx="408801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Considerações Finais</a:t>
            </a:r>
            <a:endParaRPr lang="en-US" sz="2400"/>
          </a:p>
        </p:txBody>
      </p:sp>
      <p:sp>
        <p:nvSpPr>
          <p:cNvPr id="611643395" name="Shape 1"/>
          <p:cNvSpPr/>
          <p:nvPr/>
        </p:nvSpPr>
        <p:spPr bwMode="auto">
          <a:xfrm>
            <a:off x="429295" y="959941"/>
            <a:ext cx="4077295" cy="2944192"/>
          </a:xfrm>
          <a:prstGeom prst="roundRect">
            <a:avLst>
              <a:gd name="adj" fmla="val 667"/>
            </a:avLst>
          </a:prstGeom>
          <a:solidFill>
            <a:srgbClr val="3371A5"/>
          </a:solidFill>
          <a:ln/>
        </p:spPr>
      </p:sp>
      <p:sp>
        <p:nvSpPr>
          <p:cNvPr id="858994896" name="Text 2"/>
          <p:cNvSpPr/>
          <p:nvPr/>
        </p:nvSpPr>
        <p:spPr bwMode="auto">
          <a:xfrm>
            <a:off x="560189" y="1090836"/>
            <a:ext cx="239531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Contribuições Teóricas</a:t>
            </a:r>
            <a:endParaRPr lang="en-US" sz="1200"/>
          </a:p>
        </p:txBody>
      </p:sp>
      <p:sp>
        <p:nvSpPr>
          <p:cNvPr id="154161384" name="Text 3"/>
          <p:cNvSpPr/>
          <p:nvPr/>
        </p:nvSpPr>
        <p:spPr bwMode="auto">
          <a:xfrm>
            <a:off x="560189" y="1414239"/>
            <a:ext cx="3815507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Articulação inédita entre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Teoria da Carga Cognitiva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,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Finanças Comportamentais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 e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IA conversacional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 no contexto de investimentos em dividendos. Reenquadra a análise de investimentos não apenas como problema de acesso a dados, mas como </a:t>
            </a:r>
            <a:r>
              <a:rPr lang="en-US" sz="100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problema de processamento humano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.</a:t>
            </a:r>
            <a:endParaRPr lang="en-US" sz="1000"/>
          </a:p>
        </p:txBody>
      </p:sp>
      <p:sp>
        <p:nvSpPr>
          <p:cNvPr id="899148561" name="Text 4"/>
          <p:cNvSpPr/>
          <p:nvPr/>
        </p:nvSpPr>
        <p:spPr bwMode="auto">
          <a:xfrm>
            <a:off x="560189" y="2592139"/>
            <a:ext cx="252896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Contribuições Aplicadas</a:t>
            </a:r>
            <a:endParaRPr lang="en-US" sz="1200"/>
          </a:p>
        </p:txBody>
      </p:sp>
      <p:sp>
        <p:nvSpPr>
          <p:cNvPr id="625266246" name="Text 5"/>
          <p:cNvSpPr/>
          <p:nvPr/>
        </p:nvSpPr>
        <p:spPr bwMode="auto">
          <a:xfrm>
            <a:off x="560189" y="2915543"/>
            <a:ext cx="381550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Proposição de artefato viável para reduzir esgotamento analítico em estratégias de dividendos. A centralização conversacional substitui navegação fragmentada, poupando energia mental do investidor.</a:t>
            </a:r>
            <a:endParaRPr lang="en-US" sz="1000"/>
          </a:p>
        </p:txBody>
      </p:sp>
      <p:sp>
        <p:nvSpPr>
          <p:cNvPr id="1068894121" name="Text 6"/>
          <p:cNvSpPr/>
          <p:nvPr/>
        </p:nvSpPr>
        <p:spPr bwMode="auto">
          <a:xfrm>
            <a:off x="4736455" y="1090836"/>
            <a:ext cx="321729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Direções para Pesquisas Futuras</a:t>
            </a:r>
            <a:endParaRPr lang="en-US" sz="1200"/>
          </a:p>
        </p:txBody>
      </p:sp>
      <p:sp>
        <p:nvSpPr>
          <p:cNvPr id="365485914" name="Shape 7"/>
          <p:cNvSpPr/>
          <p:nvPr/>
        </p:nvSpPr>
        <p:spPr bwMode="auto">
          <a:xfrm>
            <a:off x="4736455" y="1430610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31716379" name="Text 8"/>
          <p:cNvSpPr/>
          <p:nvPr/>
        </p:nvSpPr>
        <p:spPr bwMode="auto">
          <a:xfrm>
            <a:off x="4791335" y="1462385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1</a:t>
            </a:r>
            <a:endParaRPr lang="en-US" sz="1450"/>
          </a:p>
        </p:txBody>
      </p:sp>
      <p:sp>
        <p:nvSpPr>
          <p:cNvPr id="1158974346" name="Text 9"/>
          <p:cNvSpPr/>
          <p:nvPr/>
        </p:nvSpPr>
        <p:spPr bwMode="auto">
          <a:xfrm>
            <a:off x="5161880" y="1473101"/>
            <a:ext cx="3463305" cy="6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Testes empíricos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com investidores: medição de tempo de busca, carga cognitiva percebida e precisão interpretativa em condições reais</a:t>
            </a:r>
            <a:endParaRPr lang="en-US" sz="1000"/>
          </a:p>
        </p:txBody>
      </p:sp>
      <p:sp>
        <p:nvSpPr>
          <p:cNvPr id="15968833" name="Shape 10"/>
          <p:cNvSpPr/>
          <p:nvPr/>
        </p:nvSpPr>
        <p:spPr bwMode="auto">
          <a:xfrm>
            <a:off x="4736455" y="2363093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380863800" name="Text 11"/>
          <p:cNvSpPr/>
          <p:nvPr/>
        </p:nvSpPr>
        <p:spPr bwMode="auto">
          <a:xfrm>
            <a:off x="4791335" y="2394868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2</a:t>
            </a:r>
            <a:endParaRPr lang="en-US" sz="1450"/>
          </a:p>
        </p:txBody>
      </p:sp>
      <p:sp>
        <p:nvSpPr>
          <p:cNvPr id="1283491357" name="Text 12"/>
          <p:cNvSpPr/>
          <p:nvPr/>
        </p:nvSpPr>
        <p:spPr bwMode="auto">
          <a:xfrm>
            <a:off x="5161880" y="2405583"/>
            <a:ext cx="346330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Ampliação do escopo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para FIIs, ETFs e métricas ESG, expandindo a aplicabilidade do artefato</a:t>
            </a:r>
            <a:endParaRPr lang="en-US" sz="1000"/>
          </a:p>
        </p:txBody>
      </p:sp>
      <p:sp>
        <p:nvSpPr>
          <p:cNvPr id="1171771409" name="Shape 13"/>
          <p:cNvSpPr/>
          <p:nvPr/>
        </p:nvSpPr>
        <p:spPr bwMode="auto">
          <a:xfrm>
            <a:off x="4736455" y="3086174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813550227" name="Text 14"/>
          <p:cNvSpPr/>
          <p:nvPr/>
        </p:nvSpPr>
        <p:spPr bwMode="auto">
          <a:xfrm>
            <a:off x="4791335" y="3117949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3</a:t>
            </a:r>
            <a:endParaRPr lang="en-US" sz="1450"/>
          </a:p>
        </p:txBody>
      </p:sp>
      <p:sp>
        <p:nvSpPr>
          <p:cNvPr id="2032719257" name="Text 15"/>
          <p:cNvSpPr/>
          <p:nvPr/>
        </p:nvSpPr>
        <p:spPr bwMode="auto">
          <a:xfrm>
            <a:off x="5161880" y="3128665"/>
            <a:ext cx="3463305" cy="6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Implementação de redundância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de fontes e rotinas automáticas de checagem para garantir robustez informacional</a:t>
            </a:r>
            <a:endParaRPr lang="en-US" sz="1000"/>
          </a:p>
        </p:txBody>
      </p:sp>
      <p:sp>
        <p:nvSpPr>
          <p:cNvPr id="328512569" name="Text 16"/>
          <p:cNvSpPr/>
          <p:nvPr/>
        </p:nvSpPr>
        <p:spPr bwMode="auto">
          <a:xfrm>
            <a:off x="719882" y="4198665"/>
            <a:ext cx="7900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"A tecnologia de apoio à decisão financeira deve ser desenhada em função das </a:t>
            </a:r>
            <a:r>
              <a:rPr lang="en-US" sz="1000" b="1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limitações cognitivas humanas</a:t>
            </a:r>
            <a:r>
              <a:rPr lang="en-US" sz="10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, e não apenas da capacidade de processamento computacional."</a:t>
            </a:r>
            <a:endParaRPr lang="en-US" sz="1000"/>
          </a:p>
        </p:txBody>
      </p:sp>
      <p:sp>
        <p:nvSpPr>
          <p:cNvPr id="1882390117" name="Shape 17"/>
          <p:cNvSpPr/>
          <p:nvPr/>
        </p:nvSpPr>
        <p:spPr bwMode="auto">
          <a:xfrm>
            <a:off x="523577" y="4051399"/>
            <a:ext cx="14288" cy="713333"/>
          </a:xfrm>
          <a:prstGeom prst="rect">
            <a:avLst/>
          </a:prstGeom>
          <a:solidFill>
            <a:srgbClr val="8061FF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464143" name="Shape 0"/>
          <p:cNvSpPr/>
          <p:nvPr/>
        </p:nvSpPr>
        <p:spPr bwMode="auto">
          <a:xfrm>
            <a:off x="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201391607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410" y="372963"/>
            <a:ext cx="3298180" cy="4397573"/>
          </a:xfrm>
          <a:prstGeom prst="rect">
            <a:avLst/>
          </a:prstGeom>
        </p:spPr>
      </p:pic>
      <p:sp>
        <p:nvSpPr>
          <p:cNvPr id="472874004" name="Text 1"/>
          <p:cNvSpPr/>
          <p:nvPr/>
        </p:nvSpPr>
        <p:spPr bwMode="auto">
          <a:xfrm>
            <a:off x="3952577" y="558775"/>
            <a:ext cx="503641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Agradecimentos e Contato</a:t>
            </a:r>
            <a:endParaRPr lang="en-US" sz="2400"/>
          </a:p>
        </p:txBody>
      </p:sp>
      <p:sp>
        <p:nvSpPr>
          <p:cNvPr id="2102827471" name="Text 2"/>
          <p:cNvSpPr/>
          <p:nvPr/>
        </p:nvSpPr>
        <p:spPr bwMode="auto">
          <a:xfrm>
            <a:off x="3723977" y="1140023"/>
            <a:ext cx="48964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Obrigado pela atenção e pela oportunidade de apresentar esta pesquisa.</a:t>
            </a:r>
            <a:endParaRPr lang="en-US" sz="1000"/>
          </a:p>
        </p:txBody>
      </p:sp>
      <p:sp>
        <p:nvSpPr>
          <p:cNvPr id="1202371530" name="Shape 3"/>
          <p:cNvSpPr/>
          <p:nvPr/>
        </p:nvSpPr>
        <p:spPr bwMode="auto">
          <a:xfrm>
            <a:off x="3952577" y="1496690"/>
            <a:ext cx="2268438" cy="951607"/>
          </a:xfrm>
          <a:prstGeom prst="roundRect">
            <a:avLst>
              <a:gd name="adj" fmla="val 2064"/>
            </a:avLst>
          </a:prstGeom>
          <a:solidFill>
            <a:srgbClr val="2B2952"/>
          </a:solidFill>
          <a:ln/>
        </p:spPr>
      </p:sp>
      <p:sp>
        <p:nvSpPr>
          <p:cNvPr id="482137241" name="Text 4"/>
          <p:cNvSpPr/>
          <p:nvPr/>
        </p:nvSpPr>
        <p:spPr bwMode="auto">
          <a:xfrm>
            <a:off x="4083472" y="162758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Autor</a:t>
            </a:r>
            <a:endParaRPr lang="en-US" sz="1200"/>
          </a:p>
        </p:txBody>
      </p:sp>
      <p:sp>
        <p:nvSpPr>
          <p:cNvPr id="180812089" name="Text 5"/>
          <p:cNvSpPr/>
          <p:nvPr/>
        </p:nvSpPr>
        <p:spPr bwMode="auto">
          <a:xfrm>
            <a:off x="4083472" y="1898600"/>
            <a:ext cx="200665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Renato de Oliveira Rosa</a:t>
            </a:r>
            <a:endParaRPr lang="en-US" sz="10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Fucape Business School</a:t>
            </a:r>
            <a:endParaRPr lang="en-US" sz="1000"/>
          </a:p>
        </p:txBody>
      </p:sp>
      <p:sp>
        <p:nvSpPr>
          <p:cNvPr id="1087665570" name="Shape 6"/>
          <p:cNvSpPr/>
          <p:nvPr/>
        </p:nvSpPr>
        <p:spPr bwMode="auto">
          <a:xfrm>
            <a:off x="6351909" y="1496690"/>
            <a:ext cx="2268513" cy="951607"/>
          </a:xfrm>
          <a:prstGeom prst="roundRect">
            <a:avLst>
              <a:gd name="adj" fmla="val 2064"/>
            </a:avLst>
          </a:prstGeom>
          <a:solidFill>
            <a:srgbClr val="2B2952"/>
          </a:solidFill>
          <a:ln/>
        </p:spPr>
      </p:sp>
      <p:sp>
        <p:nvSpPr>
          <p:cNvPr id="935668101" name="Text 7"/>
          <p:cNvSpPr/>
          <p:nvPr/>
        </p:nvSpPr>
        <p:spPr bwMode="auto">
          <a:xfrm>
            <a:off x="6482804" y="162758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Contato</a:t>
            </a:r>
            <a:endParaRPr lang="en-US" sz="1200"/>
          </a:p>
        </p:txBody>
      </p:sp>
      <p:sp>
        <p:nvSpPr>
          <p:cNvPr id="826032315" name="Text 8"/>
          <p:cNvSpPr/>
          <p:nvPr/>
        </p:nvSpPr>
        <p:spPr bwMode="auto">
          <a:xfrm>
            <a:off x="6482804" y="1898600"/>
            <a:ext cx="200672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u="sng">
                <a:solidFill>
                  <a:srgbClr val="8061FF"/>
                </a:solidFill>
                <a:latin typeface="Arimo"/>
                <a:ea typeface="Arimo"/>
                <a:cs typeface="Arimo"/>
                <a:hlinkClick r:id="rId4" tooltip=""/>
              </a:rPr>
              <a:t>gestor.renatorosa@gmail.com</a:t>
            </a:r>
            <a:endParaRPr lang="en-US" sz="1000"/>
          </a:p>
        </p:txBody>
      </p:sp>
      <p:sp>
        <p:nvSpPr>
          <p:cNvPr id="721997849" name="Shape 9"/>
          <p:cNvSpPr/>
          <p:nvPr/>
        </p:nvSpPr>
        <p:spPr bwMode="auto">
          <a:xfrm>
            <a:off x="3952577" y="2579190"/>
            <a:ext cx="4667845" cy="951607"/>
          </a:xfrm>
          <a:prstGeom prst="roundRect">
            <a:avLst>
              <a:gd name="adj" fmla="val 2064"/>
            </a:avLst>
          </a:prstGeom>
          <a:solidFill>
            <a:srgbClr val="2B2952"/>
          </a:solidFill>
          <a:ln/>
        </p:spPr>
      </p:sp>
      <p:sp>
        <p:nvSpPr>
          <p:cNvPr id="1697495758" name="Text 10"/>
          <p:cNvSpPr/>
          <p:nvPr/>
        </p:nvSpPr>
        <p:spPr bwMode="auto">
          <a:xfrm>
            <a:off x="4083472" y="271008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Palavras-chave</a:t>
            </a:r>
            <a:endParaRPr lang="en-US" sz="1200"/>
          </a:p>
        </p:txBody>
      </p:sp>
      <p:sp>
        <p:nvSpPr>
          <p:cNvPr id="1870432281" name="Text 11"/>
          <p:cNvSpPr/>
          <p:nvPr/>
        </p:nvSpPr>
        <p:spPr bwMode="auto">
          <a:xfrm>
            <a:off x="4083472" y="2981102"/>
            <a:ext cx="440605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Carga Cognitiva · Finanças Comportamentais · Inteligência Artificial · Dividendos · Investidor Pessoa Física</a:t>
            </a:r>
            <a:endParaRPr lang="en-US" sz="1000"/>
          </a:p>
        </p:txBody>
      </p:sp>
      <p:sp>
        <p:nvSpPr>
          <p:cNvPr id="1083596104" name="Text 12"/>
          <p:cNvSpPr/>
          <p:nvPr/>
        </p:nvSpPr>
        <p:spPr bwMode="auto">
          <a:xfrm>
            <a:off x="3920282" y="3825329"/>
            <a:ext cx="470014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0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"A </a:t>
            </a:r>
            <a:r>
              <a:rPr lang="en-US" sz="1000" b="1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Carteira Inteligente IA</a:t>
            </a:r>
            <a:r>
              <a:rPr lang="en-US" sz="1000" i="1">
                <a:solidFill>
                  <a:srgbClr val="D9E1FF"/>
                </a:solidFill>
                <a:latin typeface="Arimo"/>
                <a:ea typeface="Arimo"/>
                <a:cs typeface="Arimo"/>
              </a:rPr>
              <a:t> não substitui o investidor — ela o capacita."</a:t>
            </a:r>
            <a:endParaRPr lang="en-US" sz="1000"/>
          </a:p>
        </p:txBody>
      </p:sp>
      <p:sp>
        <p:nvSpPr>
          <p:cNvPr id="1064569350" name="Shape 13"/>
          <p:cNvSpPr/>
          <p:nvPr/>
        </p:nvSpPr>
        <p:spPr bwMode="auto">
          <a:xfrm>
            <a:off x="3952577" y="3678064"/>
            <a:ext cx="14288" cy="503932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469405907" name="Shape 14"/>
          <p:cNvSpPr/>
          <p:nvPr/>
        </p:nvSpPr>
        <p:spPr bwMode="auto">
          <a:xfrm>
            <a:off x="3952577" y="4329261"/>
            <a:ext cx="3048372" cy="255463"/>
          </a:xfrm>
          <a:prstGeom prst="roundRect">
            <a:avLst>
              <a:gd name="adj" fmla="val 6149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1855495529" name="Text 15"/>
          <p:cNvSpPr/>
          <p:nvPr/>
        </p:nvSpPr>
        <p:spPr bwMode="auto">
          <a:xfrm>
            <a:off x="4035847" y="4373240"/>
            <a:ext cx="3339033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800">
                <a:solidFill>
                  <a:srgbClr val="8061FF"/>
                </a:solidFill>
                <a:latin typeface="Arimo"/>
                <a:ea typeface="Arimo"/>
                <a:cs typeface="Arimo"/>
              </a:rPr>
              <a:t>EIXO: INOVAÇÃO, TECNOLOGIA E EMPREENDEDORISMO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2026-05-23T03:11:51Z</dcterms:created>
  <dcterms:modified xsi:type="dcterms:W3CDTF">2026-05-23T03:14:29Z</dcterms:modified>
</cp:coreProperties>
</file>